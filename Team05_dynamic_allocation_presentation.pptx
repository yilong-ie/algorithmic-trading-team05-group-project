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6BBB24-A493-45C3-B023-134911478071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D6A642"/>
                </a:solidFill>
              </a:defRPr>
            </a:pPr>
            <a:r>
              <a:rPr sz="1200" b="1" i="0">
                <a:solidFill>
                  <a:srgbClr val="D6A642"/>
                </a:solidFill>
              </a:rPr>
              <a:t>ALGORITHMIC TRADING GROUP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251E3-03FA-4266-8BBA-CE69C8D2A629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790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 i="0">
                <a:solidFill>
                  <a:srgbClr val="F4EFE7"/>
                </a:solidFill>
              </a:defRPr>
            </a:pPr>
            <a:r>
              <a:rPr sz="4350" b="1" i="0">
                <a:solidFill>
                  <a:srgbClr val="F4EFE7"/>
                </a:solidFill>
              </a:rPr>
              <a:t>Contest-Horizon</a:t>
            </a:r>
          </a:p>
          <a:p>
            <a:pPr algn="l">
              <a:defRPr sz="4350" b="1" i="0">
                <a:solidFill>
                  <a:srgbClr val="F4EFE7"/>
                </a:solidFill>
              </a:defRPr>
            </a:pPr>
            <a:r>
              <a:rPr sz="4350" b="1" i="0">
                <a:solidFill>
                  <a:srgbClr val="F4EFE7"/>
                </a:solidFill>
              </a:rPr>
              <a:t>Equity-Gold Vote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5ED251-3D7F-482D-9F4B-7180730EF9C5}"/>
              </a:ext>
            </a:extLst>
          </p:cNvPr>
          <p:cNvSpPr>
            <a:spLocks noGrp="1"/>
          </p:cNvSpPr>
          <p:nvPr/>
        </p:nvSpPr>
        <p:spPr>
          <a:xfrm>
            <a:off x="704850" y="3162300"/>
            <a:ext cx="685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A9B3BD"/>
                </a:solidFill>
              </a:defRPr>
            </a:pPr>
            <a:r>
              <a:rPr sz="1800" b="0" i="0">
                <a:solidFill>
                  <a:srgbClr val="A9B3BD"/>
                </a:solidFill>
              </a:rPr>
              <a:t>A systematic ETF allocation model for the June live competition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F89875-83EB-4E3D-99D5-DF684F43A854}"/>
              </a:ext>
            </a:extLst>
          </p:cNvPr>
          <p:cNvSpPr>
            <a:spLocks noGrp="1"/>
          </p:cNvSpPr>
          <p:nvPr/>
        </p:nvSpPr>
        <p:spPr>
          <a:xfrm>
            <a:off x="8153400" y="1162050"/>
            <a:ext cx="2857500" cy="3200400"/>
          </a:xfrm>
          <a:prstGeom prst="roundRect">
            <a:avLst>
              <a:gd name="adj" fmla="val 2667"/>
            </a:avLst>
          </a:prstGeom>
          <a:solidFill>
            <a:srgbClr val="162635"/>
          </a:solidFill>
          <a:ln w="19050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CD9C6E-619A-4993-AB84-C8456D6C558E}"/>
              </a:ext>
            </a:extLst>
          </p:cNvPr>
          <p:cNvSpPr>
            <a:spLocks noGrp="1"/>
          </p:cNvSpPr>
          <p:nvPr/>
        </p:nvSpPr>
        <p:spPr>
          <a:xfrm>
            <a:off x="8477250" y="14668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D6A642"/>
                </a:solidFill>
              </a:defRPr>
            </a:pPr>
            <a:r>
              <a:rPr sz="1200" b="1" i="0">
                <a:solidFill>
                  <a:srgbClr val="D6A642"/>
                </a:solidFill>
              </a:rPr>
              <a:t>LIVE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85C5E-7A20-4404-8271-DE37FD9D5AB8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228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EF2504-EAD4-4194-9BE5-3C3E59C043B7}"/>
              </a:ext>
            </a:extLst>
          </p:cNvPr>
          <p:cNvSpPr>
            <a:spLocks noGrp="1"/>
          </p:cNvSpPr>
          <p:nvPr/>
        </p:nvSpPr>
        <p:spPr>
          <a:xfrm>
            <a:off x="8496300" y="27622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A9B3BD"/>
                </a:solidFill>
              </a:defRPr>
            </a:pPr>
            <a:r>
              <a:rPr sz="1200" b="0" i="0">
                <a:solidFill>
                  <a:srgbClr val="A9B3BD"/>
                </a:solidFill>
              </a:rPr>
              <a:t>ACWI / AGG / GLD / BSV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A3884-F478-40BD-BA6F-4C4618E49E21}"/>
              </a:ext>
            </a:extLst>
          </p:cNvPr>
          <p:cNvSpPr>
            <a:spLocks noGrp="1"/>
          </p:cNvSpPr>
          <p:nvPr/>
        </p:nvSpPr>
        <p:spPr>
          <a:xfrm>
            <a:off x="8477250" y="3276600"/>
            <a:ext cx="1905000" cy="38100"/>
          </a:xfrm>
          <a:prstGeom prst="rect">
            <a:avLst/>
          </a:prstGeom>
          <a:solidFill>
            <a:srgbClr val="49C6B7"/>
          </a:solidFill>
          <a:ln w="0">
            <a:solidFill>
              <a:srgbClr val="49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25071C-CD26-4482-B215-BE86E7C41440}"/>
              </a:ext>
            </a:extLst>
          </p:cNvPr>
          <p:cNvSpPr>
            <a:spLocks noGrp="1"/>
          </p:cNvSpPr>
          <p:nvPr/>
        </p:nvSpPr>
        <p:spPr>
          <a:xfrm>
            <a:off x="8395294" y="3302742"/>
            <a:ext cx="1619250" cy="10455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50000"/>
              </a:lnSpc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Rule-based.</a:t>
            </a:r>
          </a:p>
          <a:p>
            <a:pPr algn="l">
              <a:lnSpc>
                <a:spcPct val="150000"/>
              </a:lnSpc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Weekly.</a:t>
            </a:r>
          </a:p>
          <a:p>
            <a:pPr algn="l">
              <a:lnSpc>
                <a:spcPct val="150000"/>
              </a:lnSpc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Long-only.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307D0-0515-4C23-A1CC-F4C5FE6DFA3B}"/>
              </a:ext>
            </a:extLst>
          </p:cNvPr>
          <p:cNvSpPr>
            <a:spLocks noGrp="1"/>
          </p:cNvSpPr>
          <p:nvPr/>
        </p:nvSpPr>
        <p:spPr>
          <a:xfrm>
            <a:off x="666749" y="5810250"/>
            <a:ext cx="616644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A9B3BD"/>
                </a:solidFill>
              </a:defRPr>
            </a:pPr>
            <a:r>
              <a:rPr sz="1500" b="0" i="0" dirty="0">
                <a:solidFill>
                  <a:srgbClr val="A9B3BD"/>
                </a:solidFill>
              </a:rPr>
              <a:t>Team 05  | </a:t>
            </a:r>
            <a:r>
              <a:rPr lang="en-US" altLang="zh-CN" sz="1500" dirty="0">
                <a:solidFill>
                  <a:srgbClr val="A9B3BD"/>
                </a:solidFill>
              </a:rPr>
              <a:t>Yi Long, Fouad Al Khadra, Riyad Mazari </a:t>
            </a:r>
            <a:r>
              <a:rPr lang="zh-CN" altLang="en-US" sz="1500" dirty="0">
                <a:solidFill>
                  <a:srgbClr val="A9B3BD"/>
                </a:solidFill>
              </a:rPr>
              <a:t> </a:t>
            </a:r>
            <a:r>
              <a:rPr lang="en-US" altLang="zh-CN" sz="1500" dirty="0">
                <a:solidFill>
                  <a:srgbClr val="A9B3BD"/>
                </a:solidFill>
              </a:rPr>
              <a:t>| </a:t>
            </a:r>
            <a:r>
              <a:rPr sz="1500" b="0" i="0" dirty="0">
                <a:solidFill>
                  <a:srgbClr val="A9B3BD"/>
                </a:solidFill>
              </a:rPr>
              <a:t> June 30, 2026</a:t>
            </a:r>
          </a:p>
        </p:txBody>
      </p:sp>
    </p:spTree>
    <p:extLst>
      <p:ext uri="{BB962C8B-B14F-4D97-AF65-F5344CB8AC3E}">
        <p14:creationId xmlns:p14="http://schemas.microsoft.com/office/powerpoint/2010/main" val="39313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6BBAC36-93BF-42A6-80B2-43D64A1B41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A. STRATEGY OBJECTIVE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13DBF2-D9C7-460A-9B91-4020DEE11225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Strategy objective: pursue upside with discipline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99B0D0-3CED-4F54-96E2-B04FAA0F77EC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F1280-6001-4FCB-9533-3DC3C2875A08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214FAB-2BAB-404D-9542-86D93E60D67D}"/>
              </a:ext>
            </a:extLst>
          </p:cNvPr>
          <p:cNvSpPr>
            <a:spLocks noGrp="1"/>
          </p:cNvSpPr>
          <p:nvPr/>
        </p:nvSpPr>
        <p:spPr>
          <a:xfrm>
            <a:off x="952500" y="167640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F4EFE7"/>
                </a:solidFill>
              </a:defRPr>
            </a:pPr>
            <a:r>
              <a:rPr sz="1875" b="1" i="0">
                <a:solidFill>
                  <a:srgbClr val="F4EFE7"/>
                </a:solidFill>
              </a:rPr>
              <a:t>Our goal under the assignment constraints: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B0B436-692C-4AC4-97F2-435BDD145709}"/>
              </a:ext>
            </a:extLst>
          </p:cNvPr>
          <p:cNvSpPr>
            <a:spLocks noGrp="1"/>
          </p:cNvSpPr>
          <p:nvPr/>
        </p:nvSpPr>
        <p:spPr>
          <a:xfrm>
            <a:off x="952499" y="2095500"/>
            <a:ext cx="878692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D6A642"/>
                </a:solidFill>
              </a:defRPr>
            </a:pPr>
            <a:r>
              <a:rPr sz="2250" b="1" i="0" dirty="0">
                <a:solidFill>
                  <a:srgbClr val="D6A642"/>
                </a:solidFill>
              </a:rPr>
              <a:t>maximize contest-period upside without losing rule discipline.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6DEFD4-9FF1-4F41-B575-8191A170CA70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2247900" cy="1257300"/>
          </a:xfrm>
          <a:prstGeom prst="roundRect">
            <a:avLst>
              <a:gd name="adj" fmla="val 6061"/>
            </a:avLst>
          </a:prstGeom>
          <a:solidFill>
            <a:srgbClr val="101B26"/>
          </a:solidFill>
          <a:ln w="14288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4CD0ED-BD36-4585-81BC-70E4DBCF5EE7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D6A642"/>
                </a:solidFill>
              </a:defRPr>
            </a:pPr>
            <a:r>
              <a:rPr sz="1725" b="1" i="0">
                <a:solidFill>
                  <a:srgbClr val="D6A642"/>
                </a:solidFill>
              </a:rPr>
              <a:t>Growth first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25F781-916E-458B-B252-079AC252E66F}"/>
              </a:ext>
            </a:extLst>
          </p:cNvPr>
          <p:cNvSpPr>
            <a:spLocks noGrp="1"/>
          </p:cNvSpPr>
          <p:nvPr/>
        </p:nvSpPr>
        <p:spPr>
          <a:xfrm>
            <a:off x="971550" y="3981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one-month live window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C4C172-AD9D-45D1-B758-1F9243240266}"/>
              </a:ext>
            </a:extLst>
          </p:cNvPr>
          <p:cNvSpPr>
            <a:spLocks noGrp="1"/>
          </p:cNvSpPr>
          <p:nvPr/>
        </p:nvSpPr>
        <p:spPr>
          <a:xfrm>
            <a:off x="3619500" y="3238500"/>
            <a:ext cx="2247900" cy="1257300"/>
          </a:xfrm>
          <a:prstGeom prst="roundRect">
            <a:avLst>
              <a:gd name="adj" fmla="val 6061"/>
            </a:avLst>
          </a:prstGeom>
          <a:solidFill>
            <a:srgbClr val="101B26"/>
          </a:solidFill>
          <a:ln w="14288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C8A077-950F-4F3B-B52D-734D1BE79671}"/>
              </a:ext>
            </a:extLst>
          </p:cNvPr>
          <p:cNvSpPr>
            <a:spLocks noGrp="1"/>
          </p:cNvSpPr>
          <p:nvPr/>
        </p:nvSpPr>
        <p:spPr>
          <a:xfrm>
            <a:off x="3829050" y="3543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49C6B7"/>
                </a:solidFill>
              </a:defRPr>
            </a:pPr>
            <a:r>
              <a:rPr sz="1725" b="1" i="0">
                <a:solidFill>
                  <a:srgbClr val="49C6B7"/>
                </a:solidFill>
              </a:rPr>
              <a:t>Rule-based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78851F-26C4-4D14-BED4-5D05F604C8F5}"/>
              </a:ext>
            </a:extLst>
          </p:cNvPr>
          <p:cNvSpPr>
            <a:spLocks noGrp="1"/>
          </p:cNvSpPr>
          <p:nvPr/>
        </p:nvSpPr>
        <p:spPr>
          <a:xfrm>
            <a:off x="3790950" y="3981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same Friday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A5A5C38-3EF1-44CB-8377-1EA800E652C6}"/>
              </a:ext>
            </a:extLst>
          </p:cNvPr>
          <p:cNvSpPr>
            <a:spLocks noGrp="1"/>
          </p:cNvSpPr>
          <p:nvPr/>
        </p:nvSpPr>
        <p:spPr>
          <a:xfrm>
            <a:off x="6438900" y="3238500"/>
            <a:ext cx="2247900" cy="1257300"/>
          </a:xfrm>
          <a:prstGeom prst="roundRect">
            <a:avLst>
              <a:gd name="adj" fmla="val 6061"/>
            </a:avLst>
          </a:prstGeom>
          <a:solidFill>
            <a:srgbClr val="101B26"/>
          </a:solidFill>
          <a:ln w="14288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337B2E-0CD8-4571-B084-7A555F4E5465}"/>
              </a:ext>
            </a:extLst>
          </p:cNvPr>
          <p:cNvSpPr>
            <a:spLocks noGrp="1"/>
          </p:cNvSpPr>
          <p:nvPr/>
        </p:nvSpPr>
        <p:spPr>
          <a:xfrm>
            <a:off x="6648450" y="3543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D6A642"/>
                </a:solidFill>
              </a:defRPr>
            </a:pPr>
            <a:r>
              <a:rPr sz="1725" b="1" i="0">
                <a:solidFill>
                  <a:srgbClr val="D6A642"/>
                </a:solidFill>
              </a:rPr>
              <a:t>Aggressive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ED91C-8B3E-465A-BA2F-2D03A611B498}"/>
              </a:ext>
            </a:extLst>
          </p:cNvPr>
          <p:cNvSpPr>
            <a:spLocks noGrp="1"/>
          </p:cNvSpPr>
          <p:nvPr/>
        </p:nvSpPr>
        <p:spPr>
          <a:xfrm>
            <a:off x="6610350" y="3981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high ACWI, not 100%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3DF705-7958-44EB-8D19-431AE2492B6F}"/>
              </a:ext>
            </a:extLst>
          </p:cNvPr>
          <p:cNvSpPr>
            <a:spLocks noGrp="1"/>
          </p:cNvSpPr>
          <p:nvPr/>
        </p:nvSpPr>
        <p:spPr>
          <a:xfrm>
            <a:off x="9258300" y="3238500"/>
            <a:ext cx="2247900" cy="1257300"/>
          </a:xfrm>
          <a:prstGeom prst="roundRect">
            <a:avLst>
              <a:gd name="adj" fmla="val 6061"/>
            </a:avLst>
          </a:prstGeom>
          <a:solidFill>
            <a:srgbClr val="101B26"/>
          </a:solidFill>
          <a:ln w="14288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5E36DC-5D32-47E8-A7D6-D52A6CA7B81C}"/>
              </a:ext>
            </a:extLst>
          </p:cNvPr>
          <p:cNvSpPr>
            <a:spLocks noGrp="1"/>
          </p:cNvSpPr>
          <p:nvPr/>
        </p:nvSpPr>
        <p:spPr>
          <a:xfrm>
            <a:off x="9467850" y="35433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49C6B7"/>
                </a:solidFill>
              </a:defRPr>
            </a:pPr>
            <a:r>
              <a:rPr sz="1725" b="1" i="0">
                <a:solidFill>
                  <a:srgbClr val="49C6B7"/>
                </a:solidFill>
              </a:rPr>
              <a:t>Auditable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91A26B-707A-4571-9C0C-34BA4603693D}"/>
              </a:ext>
            </a:extLst>
          </p:cNvPr>
          <p:cNvSpPr>
            <a:spLocks noGrp="1"/>
          </p:cNvSpPr>
          <p:nvPr/>
        </p:nvSpPr>
        <p:spPr>
          <a:xfrm>
            <a:off x="9429750" y="39814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data in, CSV out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594A4E-CC78-40F0-9148-688C897C76A7}"/>
              </a:ext>
            </a:extLst>
          </p:cNvPr>
          <p:cNvSpPr>
            <a:spLocks noGrp="1"/>
          </p:cNvSpPr>
          <p:nvPr/>
        </p:nvSpPr>
        <p:spPr>
          <a:xfrm>
            <a:off x="1390650" y="5410200"/>
            <a:ext cx="942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 i="0">
                <a:solidFill>
                  <a:srgbClr val="A9B3BD"/>
                </a:solidFill>
              </a:defRPr>
            </a:pPr>
            <a:r>
              <a:rPr sz="1650" b="0" i="0">
                <a:solidFill>
                  <a:srgbClr val="A9B3BD"/>
                </a:solidFill>
              </a:rPr>
              <a:t>Not a minimum-volatility portfolio. A contest-ready allocation with explainable risk.</a:t>
            </a:r>
          </a:p>
        </p:txBody>
      </p:sp>
    </p:spTree>
    <p:extLst>
      <p:ext uri="{BB962C8B-B14F-4D97-AF65-F5344CB8AC3E}">
        <p14:creationId xmlns:p14="http://schemas.microsoft.com/office/powerpoint/2010/main" val="138844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5A8F4F5-9D9F-4A1F-A080-DEC6625C794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A. FINANCIAL RATIONALE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AB494D-EB24-4DC0-9DB8-B05FD476B72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Financial rationale: three asset roles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C3D8AA-C518-4397-B4D8-50B102D3CE7B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E21A11-0898-4A58-99E3-77F1C4AFDD77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0DFF46-1666-44A0-B5EA-7DCB9E96B2D4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3276600" cy="2857500"/>
          </a:xfrm>
          <a:prstGeom prst="roundRect">
            <a:avLst>
              <a:gd name="adj" fmla="val 2667"/>
            </a:avLst>
          </a:prstGeom>
          <a:solidFill>
            <a:srgbClr val="162635"/>
          </a:solidFill>
          <a:ln w="14288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090777-482B-4FE4-85B0-B6AEE1420DE9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49C6B7"/>
                </a:solidFill>
              </a:defRPr>
            </a:pPr>
            <a:r>
              <a:rPr sz="2550" b="1" i="0">
                <a:solidFill>
                  <a:srgbClr val="49C6B7"/>
                </a:solidFill>
              </a:rPr>
              <a:t>ACWI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92BBA6-D33D-4598-8336-15AAAB44C4F9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Growth engine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619569-725E-44A6-B26F-33A1B1FEE266}"/>
              </a:ext>
            </a:extLst>
          </p:cNvPr>
          <p:cNvSpPr>
            <a:spLocks noGrp="1"/>
          </p:cNvSpPr>
          <p:nvPr/>
        </p:nvSpPr>
        <p:spPr>
          <a:xfrm>
            <a:off x="1619250" y="3200400"/>
            <a:ext cx="1524000" cy="38100"/>
          </a:xfrm>
          <a:prstGeom prst="rect">
            <a:avLst/>
          </a:prstGeom>
          <a:solidFill>
            <a:srgbClr val="49C6B7"/>
          </a:solidFill>
          <a:ln w="0">
            <a:solidFill>
              <a:srgbClr val="49C6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FDDE5C-59DB-4E9D-A034-4F05564DC1DD}"/>
              </a:ext>
            </a:extLst>
          </p:cNvPr>
          <p:cNvSpPr>
            <a:spLocks noGrp="1"/>
          </p:cNvSpPr>
          <p:nvPr/>
        </p:nvSpPr>
        <p:spPr>
          <a:xfrm>
            <a:off x="1200150" y="35242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A9B3BD"/>
                </a:solidFill>
              </a:defRPr>
            </a:pPr>
            <a:r>
              <a:rPr sz="1350" b="0" i="0">
                <a:solidFill>
                  <a:srgbClr val="A9B3BD"/>
                </a:solidFill>
              </a:rPr>
              <a:t>Global equity beta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FB7837-EFAF-49AF-B1B0-6D2C4EE94801}"/>
              </a:ext>
            </a:extLst>
          </p:cNvPr>
          <p:cNvSpPr>
            <a:spLocks noGrp="1"/>
          </p:cNvSpPr>
          <p:nvPr/>
        </p:nvSpPr>
        <p:spPr>
          <a:xfrm>
            <a:off x="1200150" y="40386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Default return driver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A2B586-27CE-4656-8BC7-EAF11CFB4FBB}"/>
              </a:ext>
            </a:extLst>
          </p:cNvPr>
          <p:cNvSpPr>
            <a:spLocks noGrp="1"/>
          </p:cNvSpPr>
          <p:nvPr/>
        </p:nvSpPr>
        <p:spPr>
          <a:xfrm>
            <a:off x="4552950" y="1752600"/>
            <a:ext cx="3276600" cy="2857500"/>
          </a:xfrm>
          <a:prstGeom prst="roundRect">
            <a:avLst>
              <a:gd name="adj" fmla="val 2667"/>
            </a:avLst>
          </a:prstGeom>
          <a:solidFill>
            <a:srgbClr val="101B26"/>
          </a:solidFill>
          <a:ln w="14288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45BDB4-9F71-4609-9334-A0A3D62EED42}"/>
              </a:ext>
            </a:extLst>
          </p:cNvPr>
          <p:cNvSpPr>
            <a:spLocks noGrp="1"/>
          </p:cNvSpPr>
          <p:nvPr/>
        </p:nvSpPr>
        <p:spPr>
          <a:xfrm>
            <a:off x="4838700" y="20955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D6A642"/>
                </a:solidFill>
              </a:defRPr>
            </a:pPr>
            <a:r>
              <a:rPr sz="2550" b="1" i="0">
                <a:solidFill>
                  <a:srgbClr val="D6A642"/>
                </a:solidFill>
              </a:rPr>
              <a:t>GLD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0C3B00-7E90-4B5F-A446-91E7BC27BDEB}"/>
              </a:ext>
            </a:extLst>
          </p:cNvPr>
          <p:cNvSpPr>
            <a:spLocks noGrp="1"/>
          </p:cNvSpPr>
          <p:nvPr/>
        </p:nvSpPr>
        <p:spPr>
          <a:xfrm>
            <a:off x="4838700" y="2705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Diversifier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01CD6F-8403-42D7-8759-1F31B5178147}"/>
              </a:ext>
            </a:extLst>
          </p:cNvPr>
          <p:cNvSpPr>
            <a:spLocks noGrp="1"/>
          </p:cNvSpPr>
          <p:nvPr/>
        </p:nvSpPr>
        <p:spPr>
          <a:xfrm>
            <a:off x="5429250" y="3200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D3DA02-AB54-4AA5-90A8-0CB3B092059E}"/>
              </a:ext>
            </a:extLst>
          </p:cNvPr>
          <p:cNvSpPr>
            <a:spLocks noGrp="1"/>
          </p:cNvSpPr>
          <p:nvPr/>
        </p:nvSpPr>
        <p:spPr>
          <a:xfrm>
            <a:off x="5010150" y="35242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A9B3BD"/>
                </a:solidFill>
              </a:defRPr>
            </a:pPr>
            <a:r>
              <a:rPr sz="1350" b="0" i="0">
                <a:solidFill>
                  <a:srgbClr val="A9B3BD"/>
                </a:solidFill>
              </a:rPr>
              <a:t>Non-equity risk source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DA4156-7BC1-4F98-A15F-3B0D788D0715}"/>
              </a:ext>
            </a:extLst>
          </p:cNvPr>
          <p:cNvSpPr>
            <a:spLocks noGrp="1"/>
          </p:cNvSpPr>
          <p:nvPr/>
        </p:nvSpPr>
        <p:spPr>
          <a:xfrm>
            <a:off x="5010150" y="40386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Small normal sleeve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6C156F-74E0-4813-8C9C-A9F0431E3470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276600" cy="2857500"/>
          </a:xfrm>
          <a:prstGeom prst="roundRect">
            <a:avLst>
              <a:gd name="adj" fmla="val 2667"/>
            </a:avLst>
          </a:prstGeom>
          <a:solidFill>
            <a:srgbClr val="101B26"/>
          </a:solidFill>
          <a:ln w="14288">
            <a:solidFill>
              <a:srgbClr val="A9B3B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8EC9E8-5099-41B3-98BC-2FE43D5232E9}"/>
              </a:ext>
            </a:extLst>
          </p:cNvPr>
          <p:cNvSpPr>
            <a:spLocks noGrp="1"/>
          </p:cNvSpPr>
          <p:nvPr/>
        </p:nvSpPr>
        <p:spPr>
          <a:xfrm>
            <a:off x="8648700" y="209550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F4EFE7"/>
                </a:solidFill>
              </a:defRPr>
            </a:pPr>
            <a:r>
              <a:rPr sz="2550" b="1" i="0">
                <a:solidFill>
                  <a:srgbClr val="F4EFE7"/>
                </a:solidFill>
              </a:rPr>
              <a:t>AGG / BSV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44ECCE-8BA3-4D3D-B59E-AF89EA68CCE2}"/>
              </a:ext>
            </a:extLst>
          </p:cNvPr>
          <p:cNvSpPr>
            <a:spLocks noGrp="1"/>
          </p:cNvSpPr>
          <p:nvPr/>
        </p:nvSpPr>
        <p:spPr>
          <a:xfrm>
            <a:off x="8648700" y="2705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Defense 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93CE3F-0A9D-416E-80F2-9D3F5F3387A1}"/>
              </a:ext>
            </a:extLst>
          </p:cNvPr>
          <p:cNvSpPr>
            <a:spLocks noGrp="1"/>
          </p:cNvSpPr>
          <p:nvPr/>
        </p:nvSpPr>
        <p:spPr>
          <a:xfrm>
            <a:off x="9239250" y="3200400"/>
            <a:ext cx="1524000" cy="38100"/>
          </a:xfrm>
          <a:prstGeom prst="rect">
            <a:avLst/>
          </a:prstGeom>
          <a:solidFill>
            <a:srgbClr val="A9B3BD"/>
          </a:solidFill>
          <a:ln w="0">
            <a:solidFill>
              <a:srgbClr val="A9B3BD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44D20-BE67-49BB-9762-8542E2D27534}"/>
              </a:ext>
            </a:extLst>
          </p:cNvPr>
          <p:cNvSpPr>
            <a:spLocks noGrp="1"/>
          </p:cNvSpPr>
          <p:nvPr/>
        </p:nvSpPr>
        <p:spPr>
          <a:xfrm>
            <a:off x="8820150" y="35242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A9B3BD"/>
                </a:solidFill>
              </a:defRPr>
            </a:pPr>
            <a:r>
              <a:rPr sz="1350" b="0" i="0">
                <a:solidFill>
                  <a:srgbClr val="A9B3BD"/>
                </a:solidFill>
              </a:rPr>
              <a:t>Bond / Treasury ballast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6C3498-A55E-40DF-8DBD-D46371A7A426}"/>
              </a:ext>
            </a:extLst>
          </p:cNvPr>
          <p:cNvSpPr>
            <a:spLocks noGrp="1"/>
          </p:cNvSpPr>
          <p:nvPr/>
        </p:nvSpPr>
        <p:spPr>
          <a:xfrm>
            <a:off x="8820150" y="40386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Stress-regime fallback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3B1213-7980-4CD3-891E-7FF661B3572C}"/>
              </a:ext>
            </a:extLst>
          </p:cNvPr>
          <p:cNvSpPr>
            <a:spLocks noGrp="1"/>
          </p:cNvSpPr>
          <p:nvPr/>
        </p:nvSpPr>
        <p:spPr>
          <a:xfrm>
            <a:off x="1600200" y="5429250"/>
            <a:ext cx="899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 i="0">
                <a:solidFill>
                  <a:srgbClr val="A9B3BD"/>
                </a:solidFill>
              </a:defRPr>
            </a:pPr>
            <a:r>
              <a:rPr sz="1800" b="0" i="0">
                <a:solidFill>
                  <a:srgbClr val="A9B3BD"/>
                </a:solidFill>
              </a:rPr>
              <a:t>Normal markets: seek return. Stress markets: rotate into defense.</a:t>
            </a:r>
          </a:p>
        </p:txBody>
      </p:sp>
    </p:spTree>
    <p:extLst>
      <p:ext uri="{BB962C8B-B14F-4D97-AF65-F5344CB8AC3E}">
        <p14:creationId xmlns:p14="http://schemas.microsoft.com/office/powerpoint/2010/main" val="1170727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8466B699-D108-4193-8DC1-F232E46A821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B.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825E3-BAB8-4D45-AA8E-096C5C0123D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Methodology: two states, four signals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F914C-3339-43BE-9975-1DA82922BC16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05CA6F-EFCF-4E4A-9542-53DB1D0E0741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959546-2AF0-4038-A148-BAA08AE24600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5219700" cy="3333750"/>
          </a:xfrm>
          <a:prstGeom prst="roundRect">
            <a:avLst>
              <a:gd name="adj" fmla="val 2286"/>
            </a:avLst>
          </a:prstGeom>
          <a:solidFill>
            <a:srgbClr val="162635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AB3A95-35EC-498B-BA3C-90663E2CE3C8}"/>
              </a:ext>
            </a:extLst>
          </p:cNvPr>
          <p:cNvSpPr>
            <a:spLocks noGrp="1"/>
          </p:cNvSpPr>
          <p:nvPr/>
        </p:nvSpPr>
        <p:spPr>
          <a:xfrm>
            <a:off x="2491121" y="1644952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D6A642"/>
                </a:solidFill>
              </a:defRPr>
            </a:pPr>
            <a:r>
              <a:rPr sz="1875" b="1" i="0" dirty="0">
                <a:solidFill>
                  <a:srgbClr val="D6A642"/>
                </a:solidFill>
              </a:rPr>
              <a:t>Normal state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393F2-F0D6-4213-8B95-078D8D6DA202}"/>
              </a:ext>
            </a:extLst>
          </p:cNvPr>
          <p:cNvSpPr>
            <a:spLocks noGrp="1"/>
          </p:cNvSpPr>
          <p:nvPr/>
        </p:nvSpPr>
        <p:spPr>
          <a:xfrm>
            <a:off x="1009650" y="2035696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4EFE7"/>
                </a:solidFill>
              </a:defRPr>
            </a:pPr>
            <a:r>
              <a:rPr sz="1650" b="1" i="0" dirty="0">
                <a:solidFill>
                  <a:srgbClr val="F4EFE7"/>
                </a:solidFill>
              </a:rPr>
              <a:t>ACWI vs GLD vote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CBEFAD-94AA-4C71-B2D2-B1BBB8CA892D}"/>
              </a:ext>
            </a:extLst>
          </p:cNvPr>
          <p:cNvSpPr>
            <a:spLocks noGrp="1"/>
          </p:cNvSpPr>
          <p:nvPr/>
        </p:nvSpPr>
        <p:spPr>
          <a:xfrm>
            <a:off x="1009650" y="2569096"/>
            <a:ext cx="1809750" cy="361950"/>
          </a:xfrm>
          <a:prstGeom prst="roundRect">
            <a:avLst>
              <a:gd name="adj" fmla="val 21053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0A3961-E96D-4205-8A1A-E124A3444CDD}"/>
              </a:ext>
            </a:extLst>
          </p:cNvPr>
          <p:cNvSpPr>
            <a:spLocks noGrp="1"/>
          </p:cNvSpPr>
          <p:nvPr/>
        </p:nvSpPr>
        <p:spPr>
          <a:xfrm>
            <a:off x="1123950" y="2664346"/>
            <a:ext cx="990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Momentum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3EC318-8FE4-4CFB-94B1-500579F3520B}"/>
              </a:ext>
            </a:extLst>
          </p:cNvPr>
          <p:cNvSpPr>
            <a:spLocks noGrp="1"/>
          </p:cNvSpPr>
          <p:nvPr/>
        </p:nvSpPr>
        <p:spPr>
          <a:xfrm>
            <a:off x="2019300" y="2645296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3M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5566ED-0D94-485A-B396-416DC61EE08E}"/>
              </a:ext>
            </a:extLst>
          </p:cNvPr>
          <p:cNvSpPr>
            <a:spLocks noGrp="1"/>
          </p:cNvSpPr>
          <p:nvPr/>
        </p:nvSpPr>
        <p:spPr>
          <a:xfrm>
            <a:off x="1009650" y="3007246"/>
            <a:ext cx="1809750" cy="361950"/>
          </a:xfrm>
          <a:prstGeom prst="roundRect">
            <a:avLst>
              <a:gd name="adj" fmla="val 21053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91CD38-3226-4A4B-866A-C5669431FCEC}"/>
              </a:ext>
            </a:extLst>
          </p:cNvPr>
          <p:cNvSpPr>
            <a:spLocks noGrp="1"/>
          </p:cNvSpPr>
          <p:nvPr/>
        </p:nvSpPr>
        <p:spPr>
          <a:xfrm>
            <a:off x="1123950" y="3102496"/>
            <a:ext cx="990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Persistence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DBAE5D-55FA-45DD-AC3A-A4E22069C4D4}"/>
              </a:ext>
            </a:extLst>
          </p:cNvPr>
          <p:cNvSpPr>
            <a:spLocks noGrp="1"/>
          </p:cNvSpPr>
          <p:nvPr/>
        </p:nvSpPr>
        <p:spPr>
          <a:xfrm>
            <a:off x="2019300" y="3083446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49C6B7"/>
                </a:solidFill>
              </a:defRPr>
            </a:pPr>
            <a:r>
              <a:rPr sz="1350" b="1" i="0">
                <a:solidFill>
                  <a:srgbClr val="49C6B7"/>
                </a:solidFill>
              </a:rPr>
              <a:t>6M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650BFB-3939-40ED-9981-5BFD12E081BD}"/>
              </a:ext>
            </a:extLst>
          </p:cNvPr>
          <p:cNvSpPr>
            <a:spLocks noGrp="1"/>
          </p:cNvSpPr>
          <p:nvPr/>
        </p:nvSpPr>
        <p:spPr>
          <a:xfrm>
            <a:off x="1009650" y="3445396"/>
            <a:ext cx="1809750" cy="361950"/>
          </a:xfrm>
          <a:prstGeom prst="roundRect">
            <a:avLst>
              <a:gd name="adj" fmla="val 21053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5D17A6-8593-4620-8921-E1BE7EE2E52E}"/>
              </a:ext>
            </a:extLst>
          </p:cNvPr>
          <p:cNvSpPr>
            <a:spLocks noGrp="1"/>
          </p:cNvSpPr>
          <p:nvPr/>
        </p:nvSpPr>
        <p:spPr>
          <a:xfrm>
            <a:off x="1123950" y="3540646"/>
            <a:ext cx="990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Trend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7F456-0DEE-4013-B025-89AB84ADF1E1}"/>
              </a:ext>
            </a:extLst>
          </p:cNvPr>
          <p:cNvSpPr>
            <a:spLocks noGrp="1"/>
          </p:cNvSpPr>
          <p:nvPr/>
        </p:nvSpPr>
        <p:spPr>
          <a:xfrm>
            <a:off x="2019300" y="3521596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200D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180B68-717C-48F8-8A76-6D95C3B800B6}"/>
              </a:ext>
            </a:extLst>
          </p:cNvPr>
          <p:cNvSpPr>
            <a:spLocks noGrp="1"/>
          </p:cNvSpPr>
          <p:nvPr/>
        </p:nvSpPr>
        <p:spPr>
          <a:xfrm>
            <a:off x="1009650" y="3883546"/>
            <a:ext cx="1809750" cy="361950"/>
          </a:xfrm>
          <a:prstGeom prst="roundRect">
            <a:avLst>
              <a:gd name="adj" fmla="val 21053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247BC-BDB1-4AE5-A629-75C6E6472A81}"/>
              </a:ext>
            </a:extLst>
          </p:cNvPr>
          <p:cNvSpPr>
            <a:spLocks noGrp="1"/>
          </p:cNvSpPr>
          <p:nvPr/>
        </p:nvSpPr>
        <p:spPr>
          <a:xfrm>
            <a:off x="1123950" y="3978796"/>
            <a:ext cx="990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Risk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421124-D308-49FD-88F8-81E387007EE9}"/>
              </a:ext>
            </a:extLst>
          </p:cNvPr>
          <p:cNvSpPr>
            <a:spLocks noGrp="1"/>
          </p:cNvSpPr>
          <p:nvPr/>
        </p:nvSpPr>
        <p:spPr>
          <a:xfrm>
            <a:off x="2019300" y="3959746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49C6B7"/>
                </a:solidFill>
              </a:defRPr>
            </a:pPr>
            <a:r>
              <a:rPr sz="1350" b="1" i="0">
                <a:solidFill>
                  <a:srgbClr val="49C6B7"/>
                </a:solidFill>
              </a:rPr>
              <a:t>63D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1F89B4-D0A7-4C57-8B5C-FD90EDD0FEEF}"/>
              </a:ext>
            </a:extLst>
          </p:cNvPr>
          <p:cNvSpPr>
            <a:spLocks noGrp="1"/>
          </p:cNvSpPr>
          <p:nvPr/>
        </p:nvSpPr>
        <p:spPr>
          <a:xfrm>
            <a:off x="3314700" y="2061388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F4EFE7"/>
                </a:solidFill>
              </a:defRPr>
            </a:pPr>
            <a:r>
              <a:rPr sz="1650" b="1" i="0" dirty="0">
                <a:solidFill>
                  <a:srgbClr val="F4EFE7"/>
                </a:solidFill>
              </a:rPr>
              <a:t>Normal formula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85AA05-E152-44C7-A537-26CE5A02E825}"/>
              </a:ext>
            </a:extLst>
          </p:cNvPr>
          <p:cNvSpPr>
            <a:spLocks noGrp="1"/>
          </p:cNvSpPr>
          <p:nvPr/>
        </p:nvSpPr>
        <p:spPr>
          <a:xfrm>
            <a:off x="3181350" y="2598332"/>
            <a:ext cx="2247900" cy="419100"/>
          </a:xfrm>
          <a:prstGeom prst="roundRect">
            <a:avLst>
              <a:gd name="adj" fmla="val 18182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9B84C9-46DB-452A-936B-5DBA7ECCF3CC}"/>
              </a:ext>
            </a:extLst>
          </p:cNvPr>
          <p:cNvSpPr>
            <a:spLocks noGrp="1"/>
          </p:cNvSpPr>
          <p:nvPr/>
        </p:nvSpPr>
        <p:spPr>
          <a:xfrm>
            <a:off x="3333750" y="2731682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 i="0">
                <a:solidFill>
                  <a:srgbClr val="D6A642"/>
                </a:solidFill>
              </a:defRPr>
            </a:pPr>
            <a:r>
              <a:rPr sz="1125" b="1" i="0">
                <a:solidFill>
                  <a:srgbClr val="D6A642"/>
                </a:solidFill>
              </a:rPr>
              <a:t>ACWI = 50% + 10% x votes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655220-9317-4E44-85B3-BA7F8F8F7700}"/>
              </a:ext>
            </a:extLst>
          </p:cNvPr>
          <p:cNvSpPr>
            <a:spLocks noGrp="1"/>
          </p:cNvSpPr>
          <p:nvPr/>
        </p:nvSpPr>
        <p:spPr>
          <a:xfrm>
            <a:off x="3409950" y="308521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4EFE7"/>
                </a:solidFill>
              </a:defRPr>
            </a:pPr>
            <a:r>
              <a:rPr sz="1350" b="1" i="0">
                <a:solidFill>
                  <a:srgbClr val="F4EFE7"/>
                </a:solidFill>
              </a:rPr>
              <a:t>Vote ladder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7ECC792-BEC8-4A9C-8AF4-02EB561575EF}"/>
              </a:ext>
            </a:extLst>
          </p:cNvPr>
          <p:cNvSpPr>
            <a:spLocks noGrp="1"/>
          </p:cNvSpPr>
          <p:nvPr/>
        </p:nvSpPr>
        <p:spPr>
          <a:xfrm>
            <a:off x="3181350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7B4BA-5E0F-4435-8052-139F0BE4C6E8}"/>
              </a:ext>
            </a:extLst>
          </p:cNvPr>
          <p:cNvSpPr>
            <a:spLocks noGrp="1"/>
          </p:cNvSpPr>
          <p:nvPr/>
        </p:nvSpPr>
        <p:spPr>
          <a:xfrm>
            <a:off x="3267075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603FD2-033A-4CB6-9665-4330DB1B1F53}"/>
              </a:ext>
            </a:extLst>
          </p:cNvPr>
          <p:cNvSpPr>
            <a:spLocks noGrp="1"/>
          </p:cNvSpPr>
          <p:nvPr/>
        </p:nvSpPr>
        <p:spPr>
          <a:xfrm>
            <a:off x="3209925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50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3390D5-8950-4266-8DC0-9CDAF065E600}"/>
              </a:ext>
            </a:extLst>
          </p:cNvPr>
          <p:cNvSpPr>
            <a:spLocks noGrp="1"/>
          </p:cNvSpPr>
          <p:nvPr/>
        </p:nvSpPr>
        <p:spPr>
          <a:xfrm>
            <a:off x="3629025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926CCE-655D-4C47-8950-528F2B35B104}"/>
              </a:ext>
            </a:extLst>
          </p:cNvPr>
          <p:cNvSpPr>
            <a:spLocks noGrp="1"/>
          </p:cNvSpPr>
          <p:nvPr/>
        </p:nvSpPr>
        <p:spPr>
          <a:xfrm>
            <a:off x="3714750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F16521-42A2-4AD8-8323-2A04D823F087}"/>
              </a:ext>
            </a:extLst>
          </p:cNvPr>
          <p:cNvSpPr>
            <a:spLocks noGrp="1"/>
          </p:cNvSpPr>
          <p:nvPr/>
        </p:nvSpPr>
        <p:spPr>
          <a:xfrm>
            <a:off x="3657600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60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32410AD-F3A4-4E8F-8F3F-D265AE779F93}"/>
              </a:ext>
            </a:extLst>
          </p:cNvPr>
          <p:cNvSpPr>
            <a:spLocks noGrp="1"/>
          </p:cNvSpPr>
          <p:nvPr/>
        </p:nvSpPr>
        <p:spPr>
          <a:xfrm>
            <a:off x="4076700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C4F43A-52F1-4B17-8596-0AF1BFA0B254}"/>
              </a:ext>
            </a:extLst>
          </p:cNvPr>
          <p:cNvSpPr>
            <a:spLocks noGrp="1"/>
          </p:cNvSpPr>
          <p:nvPr/>
        </p:nvSpPr>
        <p:spPr>
          <a:xfrm>
            <a:off x="4162425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1ABAA6F-FB4A-42DA-BDD4-A94E7434D40A}"/>
              </a:ext>
            </a:extLst>
          </p:cNvPr>
          <p:cNvSpPr>
            <a:spLocks noGrp="1"/>
          </p:cNvSpPr>
          <p:nvPr/>
        </p:nvSpPr>
        <p:spPr>
          <a:xfrm>
            <a:off x="4105275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70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8EC5A28-3FAD-46FC-8B1B-D2E0769F3268}"/>
              </a:ext>
            </a:extLst>
          </p:cNvPr>
          <p:cNvSpPr>
            <a:spLocks noGrp="1"/>
          </p:cNvSpPr>
          <p:nvPr/>
        </p:nvSpPr>
        <p:spPr>
          <a:xfrm>
            <a:off x="4524375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6A9432-AD65-45A8-A845-0555B27B3314}"/>
              </a:ext>
            </a:extLst>
          </p:cNvPr>
          <p:cNvSpPr>
            <a:spLocks noGrp="1"/>
          </p:cNvSpPr>
          <p:nvPr/>
        </p:nvSpPr>
        <p:spPr>
          <a:xfrm>
            <a:off x="4610100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788BA3-8CD3-4686-B99B-37E8403AF739}"/>
              </a:ext>
            </a:extLst>
          </p:cNvPr>
          <p:cNvSpPr>
            <a:spLocks noGrp="1"/>
          </p:cNvSpPr>
          <p:nvPr/>
        </p:nvSpPr>
        <p:spPr>
          <a:xfrm>
            <a:off x="4552950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80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F7CC8A5-18B4-4C47-BF3C-D4A1A9D7CD7F}"/>
              </a:ext>
            </a:extLst>
          </p:cNvPr>
          <p:cNvSpPr>
            <a:spLocks noGrp="1"/>
          </p:cNvSpPr>
          <p:nvPr/>
        </p:nvSpPr>
        <p:spPr>
          <a:xfrm>
            <a:off x="4972050" y="3409065"/>
            <a:ext cx="400050" cy="552450"/>
          </a:xfrm>
          <a:prstGeom prst="roundRect">
            <a:avLst>
              <a:gd name="adj" fmla="val 19048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0F1B0C7-184F-4A67-8A23-47D302232F68}"/>
              </a:ext>
            </a:extLst>
          </p:cNvPr>
          <p:cNvSpPr>
            <a:spLocks noGrp="1"/>
          </p:cNvSpPr>
          <p:nvPr/>
        </p:nvSpPr>
        <p:spPr>
          <a:xfrm>
            <a:off x="5057775" y="3485265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A9B3BD"/>
                </a:solidFill>
              </a:defRPr>
            </a:pPr>
            <a:r>
              <a:rPr sz="975" b="1" i="0">
                <a:solidFill>
                  <a:srgbClr val="A9B3BD"/>
                </a:solidFill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F21F70-020E-4FFA-B46C-EC43B40476AE}"/>
              </a:ext>
            </a:extLst>
          </p:cNvPr>
          <p:cNvSpPr>
            <a:spLocks noGrp="1"/>
          </p:cNvSpPr>
          <p:nvPr/>
        </p:nvSpPr>
        <p:spPr>
          <a:xfrm>
            <a:off x="5000625" y="3723390"/>
            <a:ext cx="342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D6A642"/>
                </a:solidFill>
              </a:defRPr>
            </a:pPr>
            <a:r>
              <a:rPr sz="975" b="1" i="0">
                <a:solidFill>
                  <a:srgbClr val="D6A642"/>
                </a:solidFill>
              </a:rPr>
              <a:t>90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B30049-0E05-4B3B-85A8-1234B0D4EB59}"/>
              </a:ext>
            </a:extLst>
          </p:cNvPr>
          <p:cNvSpPr>
            <a:spLocks noGrp="1"/>
          </p:cNvSpPr>
          <p:nvPr/>
        </p:nvSpPr>
        <p:spPr>
          <a:xfrm>
            <a:off x="3069265" y="4019551"/>
            <a:ext cx="2474284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A9B3BD"/>
                </a:solidFill>
              </a:defRPr>
            </a:pPr>
            <a:r>
              <a:rPr sz="1125" b="0" i="0" dirty="0">
                <a:solidFill>
                  <a:srgbClr val="A9B3BD"/>
                </a:solidFill>
              </a:rPr>
              <a:t>lower row = ACWI %; </a:t>
            </a:r>
            <a:endParaRPr lang="en-US" sz="1125" b="0" i="0" dirty="0">
              <a:solidFill>
                <a:srgbClr val="A9B3BD"/>
              </a:solidFill>
            </a:endParaRPr>
          </a:p>
          <a:p>
            <a:pPr algn="ctr">
              <a:defRPr sz="1125" b="0" i="0">
                <a:solidFill>
                  <a:srgbClr val="A9B3BD"/>
                </a:solidFill>
              </a:defRPr>
            </a:pPr>
            <a:r>
              <a:rPr sz="1125" b="0" i="0" dirty="0">
                <a:solidFill>
                  <a:srgbClr val="A9B3BD"/>
                </a:solidFill>
              </a:rPr>
              <a:t>GLD receives balance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3E16BEB-A08F-4868-93F3-F5F14B02104F}"/>
              </a:ext>
            </a:extLst>
          </p:cNvPr>
          <p:cNvSpPr>
            <a:spLocks noGrp="1"/>
          </p:cNvSpPr>
          <p:nvPr/>
        </p:nvSpPr>
        <p:spPr>
          <a:xfrm>
            <a:off x="6305550" y="1581150"/>
            <a:ext cx="5219700" cy="3333750"/>
          </a:xfrm>
          <a:prstGeom prst="roundRect">
            <a:avLst>
              <a:gd name="adj" fmla="val 2286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010A38-AC58-48A1-9A61-AED28848E71A}"/>
              </a:ext>
            </a:extLst>
          </p:cNvPr>
          <p:cNvSpPr>
            <a:spLocks noGrp="1"/>
          </p:cNvSpPr>
          <p:nvPr/>
        </p:nvSpPr>
        <p:spPr>
          <a:xfrm>
            <a:off x="7917272" y="1623683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49C6B7"/>
                </a:solidFill>
              </a:defRPr>
            </a:pPr>
            <a:r>
              <a:rPr sz="1875" b="1" i="0" dirty="0">
                <a:solidFill>
                  <a:srgbClr val="49C6B7"/>
                </a:solidFill>
              </a:rPr>
              <a:t>Defensive state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25D7C19-335E-4E37-A1D2-77651356F0FA}"/>
              </a:ext>
            </a:extLst>
          </p:cNvPr>
          <p:cNvSpPr>
            <a:spLocks noGrp="1"/>
          </p:cNvSpPr>
          <p:nvPr/>
        </p:nvSpPr>
        <p:spPr>
          <a:xfrm>
            <a:off x="7334689" y="2332519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4EFE7"/>
                </a:solidFill>
              </a:defRPr>
            </a:pPr>
            <a:r>
              <a:rPr sz="1650" b="1" i="0" dirty="0">
                <a:solidFill>
                  <a:srgbClr val="F4EFE7"/>
                </a:solidFill>
              </a:rPr>
              <a:t>Trigger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4CA04B-9468-4E21-A776-25224F381FF4}"/>
              </a:ext>
            </a:extLst>
          </p:cNvPr>
          <p:cNvSpPr>
            <a:spLocks noGrp="1"/>
          </p:cNvSpPr>
          <p:nvPr/>
        </p:nvSpPr>
        <p:spPr>
          <a:xfrm>
            <a:off x="6734174" y="2895600"/>
            <a:ext cx="2047876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D6A642"/>
                </a:solidFill>
              </a:defRPr>
            </a:pPr>
            <a:r>
              <a:rPr sz="1800" b="1" i="0" dirty="0">
                <a:solidFill>
                  <a:srgbClr val="D6A642"/>
                </a:solidFill>
              </a:rPr>
              <a:t>ACWI below 200D</a:t>
            </a:r>
          </a:p>
          <a:p>
            <a:pPr algn="ctr">
              <a:defRPr sz="1800" b="1" i="0">
                <a:solidFill>
                  <a:srgbClr val="D6A642"/>
                </a:solidFill>
              </a:defRPr>
            </a:pPr>
            <a:r>
              <a:rPr sz="1800" b="1" i="0" dirty="0">
                <a:solidFill>
                  <a:srgbClr val="D6A642"/>
                </a:solidFill>
              </a:rPr>
              <a:t>+</a:t>
            </a:r>
          </a:p>
          <a:p>
            <a:pPr algn="ctr">
              <a:defRPr sz="1800" b="1" i="0">
                <a:solidFill>
                  <a:srgbClr val="D6A642"/>
                </a:solidFill>
              </a:defRPr>
            </a:pPr>
            <a:r>
              <a:rPr sz="1800" b="1" i="0" dirty="0">
                <a:solidFill>
                  <a:srgbClr val="D6A642"/>
                </a:solidFill>
              </a:rPr>
              <a:t>negative 3M return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FC42278-B3B9-4556-9677-330FF6B1C3FB}"/>
              </a:ext>
            </a:extLst>
          </p:cNvPr>
          <p:cNvSpPr>
            <a:spLocks noGrp="1"/>
          </p:cNvSpPr>
          <p:nvPr/>
        </p:nvSpPr>
        <p:spPr>
          <a:xfrm>
            <a:off x="9607843" y="2275811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F4EFE7"/>
                </a:solidFill>
              </a:defRPr>
            </a:pPr>
            <a:r>
              <a:rPr sz="1650" b="1" i="0" dirty="0">
                <a:solidFill>
                  <a:srgbClr val="F4EFE7"/>
                </a:solidFill>
              </a:rPr>
              <a:t>Response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61F056-73BC-4260-8712-778F5D6E4960}"/>
              </a:ext>
            </a:extLst>
          </p:cNvPr>
          <p:cNvSpPr>
            <a:spLocks noGrp="1"/>
          </p:cNvSpPr>
          <p:nvPr/>
        </p:nvSpPr>
        <p:spPr>
          <a:xfrm>
            <a:off x="9010649" y="2895600"/>
            <a:ext cx="224568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49C6B7"/>
                </a:solidFill>
              </a:defRPr>
            </a:pPr>
            <a:r>
              <a:rPr sz="1800" b="1" i="0" dirty="0">
                <a:solidFill>
                  <a:srgbClr val="49C6B7"/>
                </a:solidFill>
              </a:rPr>
              <a:t>Reduce ACWI</a:t>
            </a:r>
          </a:p>
          <a:p>
            <a:pPr algn="ctr">
              <a:defRPr sz="1800" b="1" i="0">
                <a:solidFill>
                  <a:srgbClr val="49C6B7"/>
                </a:solidFill>
              </a:defRPr>
            </a:pPr>
            <a:r>
              <a:rPr sz="1800" b="1" i="0" dirty="0">
                <a:solidFill>
                  <a:srgbClr val="49C6B7"/>
                </a:solidFill>
              </a:rPr>
              <a:t>rotate to</a:t>
            </a:r>
          </a:p>
          <a:p>
            <a:pPr algn="ctr">
              <a:defRPr sz="1800" b="1" i="0">
                <a:solidFill>
                  <a:srgbClr val="49C6B7"/>
                </a:solidFill>
              </a:defRPr>
            </a:pPr>
            <a:r>
              <a:rPr sz="1800" b="1" i="0" dirty="0">
                <a:solidFill>
                  <a:srgbClr val="49C6B7"/>
                </a:solidFill>
              </a:rPr>
              <a:t>GLD / AGG / BSV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382A50-DD48-46AE-8880-E54FE3EDCDCC}"/>
              </a:ext>
            </a:extLst>
          </p:cNvPr>
          <p:cNvSpPr>
            <a:spLocks noGrp="1"/>
          </p:cNvSpPr>
          <p:nvPr/>
        </p:nvSpPr>
        <p:spPr>
          <a:xfrm>
            <a:off x="7486650" y="41910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 i="0">
                <a:solidFill>
                  <a:srgbClr val="A9B3BD"/>
                </a:solidFill>
              </a:defRPr>
            </a:pPr>
            <a:r>
              <a:rPr sz="1425" b="0" i="0">
                <a:solidFill>
                  <a:srgbClr val="A9B3BD"/>
                </a:solidFill>
              </a:rPr>
              <a:t>25pp weekly turnover cap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3B99E0-240B-4EA6-9BB9-AE9E604E3BCA}"/>
              </a:ext>
            </a:extLst>
          </p:cNvPr>
          <p:cNvSpPr>
            <a:spLocks noGrp="1"/>
          </p:cNvSpPr>
          <p:nvPr/>
        </p:nvSpPr>
        <p:spPr>
          <a:xfrm>
            <a:off x="1466850" y="5410200"/>
            <a:ext cx="923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0" i="0">
                <a:solidFill>
                  <a:srgbClr val="A9B3BD"/>
                </a:solidFill>
              </a:defRPr>
            </a:pPr>
            <a:r>
              <a:rPr sz="1725" b="0" i="0">
                <a:solidFill>
                  <a:srgbClr val="A9B3BD"/>
                </a:solidFill>
              </a:rPr>
              <a:t>Aggressive by default, defensive by rule.</a:t>
            </a:r>
          </a:p>
        </p:txBody>
      </p:sp>
    </p:spTree>
    <p:extLst>
      <p:ext uri="{BB962C8B-B14F-4D97-AF65-F5344CB8AC3E}">
        <p14:creationId xmlns:p14="http://schemas.microsoft.com/office/powerpoint/2010/main" val="1176982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F287725-4C37-434C-A014-EC43E3ED71A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B. METHODOLOGY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A627B-BA6B-45E0-9801-A817BA8442C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Implementation: weekly model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AB5D79-B5ED-4F4C-8703-7E14C3D573BE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510F96-C288-40C0-94AC-E81A0311428D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2621D3-5BCF-46F6-897B-5C41DBBD52CD}"/>
              </a:ext>
            </a:extLst>
          </p:cNvPr>
          <p:cNvSpPr>
            <a:spLocks noGrp="1"/>
          </p:cNvSpPr>
          <p:nvPr/>
        </p:nvSpPr>
        <p:spPr>
          <a:xfrm>
            <a:off x="81915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FD30F7-55B7-4AD8-8719-E97B10A1B92E}"/>
              </a:ext>
            </a:extLst>
          </p:cNvPr>
          <p:cNvSpPr>
            <a:spLocks noGrp="1"/>
          </p:cNvSpPr>
          <p:nvPr/>
        </p:nvSpPr>
        <p:spPr>
          <a:xfrm>
            <a:off x="91440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Prices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B564E-CF8A-4542-A717-923C2A705DFA}"/>
              </a:ext>
            </a:extLst>
          </p:cNvPr>
          <p:cNvSpPr>
            <a:spLocks noGrp="1"/>
          </p:cNvSpPr>
          <p:nvPr/>
        </p:nvSpPr>
        <p:spPr>
          <a:xfrm>
            <a:off x="224790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8FFFF6-6AD9-4E77-85A0-7702C65563D8}"/>
              </a:ext>
            </a:extLst>
          </p:cNvPr>
          <p:cNvSpPr>
            <a:spLocks noGrp="1"/>
          </p:cNvSpPr>
          <p:nvPr/>
        </p:nvSpPr>
        <p:spPr>
          <a:xfrm>
            <a:off x="262890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B7395E-D964-41AE-B275-2DA2BEB7EDAD}"/>
              </a:ext>
            </a:extLst>
          </p:cNvPr>
          <p:cNvSpPr>
            <a:spLocks noGrp="1"/>
          </p:cNvSpPr>
          <p:nvPr/>
        </p:nvSpPr>
        <p:spPr>
          <a:xfrm>
            <a:off x="272415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Signals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6DE53C-7269-4814-B4FB-B80C2CD69761}"/>
              </a:ext>
            </a:extLst>
          </p:cNvPr>
          <p:cNvSpPr>
            <a:spLocks noGrp="1"/>
          </p:cNvSpPr>
          <p:nvPr/>
        </p:nvSpPr>
        <p:spPr>
          <a:xfrm>
            <a:off x="405765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05A0D93-A080-4F75-B209-7F4822746802}"/>
              </a:ext>
            </a:extLst>
          </p:cNvPr>
          <p:cNvSpPr>
            <a:spLocks noGrp="1"/>
          </p:cNvSpPr>
          <p:nvPr/>
        </p:nvSpPr>
        <p:spPr>
          <a:xfrm>
            <a:off x="443865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EC52D3-1A1D-4FD5-8A95-C3143029CEA6}"/>
              </a:ext>
            </a:extLst>
          </p:cNvPr>
          <p:cNvSpPr>
            <a:spLocks noGrp="1"/>
          </p:cNvSpPr>
          <p:nvPr/>
        </p:nvSpPr>
        <p:spPr>
          <a:xfrm>
            <a:off x="453390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F4EFE7"/>
                </a:solidFill>
              </a:defRPr>
            </a:pPr>
            <a:r>
              <a:rPr sz="1650" b="1" i="0">
                <a:solidFill>
                  <a:srgbClr val="F4EFE7"/>
                </a:solidFill>
              </a:rPr>
              <a:t>Regime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DB7FB2-C6C5-4800-9C8B-F16F8A096AA0}"/>
              </a:ext>
            </a:extLst>
          </p:cNvPr>
          <p:cNvSpPr>
            <a:spLocks noGrp="1"/>
          </p:cNvSpPr>
          <p:nvPr/>
        </p:nvSpPr>
        <p:spPr>
          <a:xfrm>
            <a:off x="586740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210F1D-22EE-43A1-8363-6F6AAB0A7060}"/>
              </a:ext>
            </a:extLst>
          </p:cNvPr>
          <p:cNvSpPr>
            <a:spLocks noGrp="1"/>
          </p:cNvSpPr>
          <p:nvPr/>
        </p:nvSpPr>
        <p:spPr>
          <a:xfrm>
            <a:off x="624840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AFF71A-7535-43BF-99E3-DE6C6AE058CE}"/>
              </a:ext>
            </a:extLst>
          </p:cNvPr>
          <p:cNvSpPr>
            <a:spLocks noGrp="1"/>
          </p:cNvSpPr>
          <p:nvPr/>
        </p:nvSpPr>
        <p:spPr>
          <a:xfrm>
            <a:off x="634365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4EFE7"/>
                </a:solidFill>
              </a:defRPr>
            </a:pPr>
            <a:r>
              <a:rPr sz="1275" b="1" i="0">
                <a:solidFill>
                  <a:srgbClr val="F4EFE7"/>
                </a:solidFill>
              </a:rPr>
              <a:t>Target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FFF15E-32A4-4E46-B38C-B3AECD59E695}"/>
              </a:ext>
            </a:extLst>
          </p:cNvPr>
          <p:cNvSpPr>
            <a:spLocks noGrp="1"/>
          </p:cNvSpPr>
          <p:nvPr/>
        </p:nvSpPr>
        <p:spPr>
          <a:xfrm>
            <a:off x="767715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E9393AC-23CD-4F91-A019-A4BC4C57B15F}"/>
              </a:ext>
            </a:extLst>
          </p:cNvPr>
          <p:cNvSpPr>
            <a:spLocks noGrp="1"/>
          </p:cNvSpPr>
          <p:nvPr/>
        </p:nvSpPr>
        <p:spPr>
          <a:xfrm>
            <a:off x="805815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256504-8C16-46E4-B025-740560525164}"/>
              </a:ext>
            </a:extLst>
          </p:cNvPr>
          <p:cNvSpPr>
            <a:spLocks noGrp="1"/>
          </p:cNvSpPr>
          <p:nvPr/>
        </p:nvSpPr>
        <p:spPr>
          <a:xfrm>
            <a:off x="815340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4EFE7"/>
                </a:solidFill>
              </a:defRPr>
            </a:pPr>
            <a:r>
              <a:rPr sz="1275" b="1" i="0">
                <a:solidFill>
                  <a:srgbClr val="F4EFE7"/>
                </a:solidFill>
              </a:rPr>
              <a:t>Rebalance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9AA95D-70D0-4E6D-9220-A095E8EEDC03}"/>
              </a:ext>
            </a:extLst>
          </p:cNvPr>
          <p:cNvSpPr>
            <a:spLocks noGrp="1"/>
          </p:cNvSpPr>
          <p:nvPr/>
        </p:nvSpPr>
        <p:spPr>
          <a:xfrm>
            <a:off x="9486900" y="223837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D6A642"/>
                </a:solidFill>
              </a:defRPr>
            </a:pPr>
            <a:r>
              <a:rPr sz="2250" b="1" i="0">
                <a:solidFill>
                  <a:srgbClr val="D6A642"/>
                </a:solidFill>
              </a:rPr>
              <a:t>→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B98EC83-FE5D-4D5E-834D-90706429659E}"/>
              </a:ext>
            </a:extLst>
          </p:cNvPr>
          <p:cNvSpPr>
            <a:spLocks noGrp="1"/>
          </p:cNvSpPr>
          <p:nvPr/>
        </p:nvSpPr>
        <p:spPr>
          <a:xfrm>
            <a:off x="9867900" y="1981200"/>
            <a:ext cx="1381125" cy="895350"/>
          </a:xfrm>
          <a:prstGeom prst="roundRect">
            <a:avLst>
              <a:gd name="adj" fmla="val 8511"/>
            </a:avLst>
          </a:prstGeom>
          <a:solidFill>
            <a:srgbClr val="162635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40A849-1DD1-477C-A711-7C657CF3E2B8}"/>
              </a:ext>
            </a:extLst>
          </p:cNvPr>
          <p:cNvSpPr>
            <a:spLocks noGrp="1"/>
          </p:cNvSpPr>
          <p:nvPr/>
        </p:nvSpPr>
        <p:spPr>
          <a:xfrm>
            <a:off x="9963150" y="2247900"/>
            <a:ext cx="1190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F4EFE7"/>
                </a:solidFill>
              </a:defRPr>
            </a:pPr>
            <a:r>
              <a:rPr sz="1275" b="1" i="0">
                <a:solidFill>
                  <a:srgbClr val="F4EFE7"/>
                </a:solidFill>
              </a:rPr>
              <a:t>CSV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003F52-7482-4F87-BA1F-970804E79903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3048000" cy="1295400"/>
          </a:xfrm>
          <a:prstGeom prst="roundRect">
            <a:avLst>
              <a:gd name="adj" fmla="val 6667"/>
            </a:avLst>
          </a:prstGeom>
          <a:solidFill>
            <a:srgbClr val="162635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E803CD-2E5B-44AE-ABB8-6A8E484F9A84}"/>
              </a:ext>
            </a:extLst>
          </p:cNvPr>
          <p:cNvSpPr>
            <a:spLocks noGrp="1"/>
          </p:cNvSpPr>
          <p:nvPr/>
        </p:nvSpPr>
        <p:spPr>
          <a:xfrm>
            <a:off x="1162050" y="38862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D6A642"/>
                </a:solidFill>
              </a:defRPr>
            </a:pPr>
            <a:r>
              <a:rPr sz="1650" b="1" i="0">
                <a:solidFill>
                  <a:srgbClr val="D6A642"/>
                </a:solidFill>
              </a:rPr>
              <a:t>Stress trigger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F8E8A1-C27F-4E82-B63F-0F41AEF81543}"/>
              </a:ext>
            </a:extLst>
          </p:cNvPr>
          <p:cNvSpPr>
            <a:spLocks noGrp="1"/>
          </p:cNvSpPr>
          <p:nvPr/>
        </p:nvSpPr>
        <p:spPr>
          <a:xfrm>
            <a:off x="1162050" y="42481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ACWI below 200D average and negative 3M return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419E8CE-E1D5-4ED6-B078-399468DE4E6D}"/>
              </a:ext>
            </a:extLst>
          </p:cNvPr>
          <p:cNvSpPr>
            <a:spLocks noGrp="1"/>
          </p:cNvSpPr>
          <p:nvPr/>
        </p:nvSpPr>
        <p:spPr>
          <a:xfrm>
            <a:off x="4572000" y="3638550"/>
            <a:ext cx="3048000" cy="1295400"/>
          </a:xfrm>
          <a:prstGeom prst="roundRect">
            <a:avLst>
              <a:gd name="adj" fmla="val 6667"/>
            </a:avLst>
          </a:prstGeom>
          <a:solidFill>
            <a:srgbClr val="101B26"/>
          </a:solidFill>
          <a:ln w="9525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FD6099-B8AA-4BB2-B795-93C75A4C84F9}"/>
              </a:ext>
            </a:extLst>
          </p:cNvPr>
          <p:cNvSpPr>
            <a:spLocks noGrp="1"/>
          </p:cNvSpPr>
          <p:nvPr/>
        </p:nvSpPr>
        <p:spPr>
          <a:xfrm>
            <a:off x="4819650" y="38862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49C6B7"/>
                </a:solidFill>
              </a:defRPr>
            </a:pPr>
            <a:r>
              <a:rPr sz="1650" b="1" i="0">
                <a:solidFill>
                  <a:srgbClr val="49C6B7"/>
                </a:solidFill>
              </a:rPr>
              <a:t>Defensive rotation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3EBE7-52D9-4572-9E8F-600BD8AB38F9}"/>
              </a:ext>
            </a:extLst>
          </p:cNvPr>
          <p:cNvSpPr>
            <a:spLocks noGrp="1"/>
          </p:cNvSpPr>
          <p:nvPr/>
        </p:nvSpPr>
        <p:spPr>
          <a:xfrm>
            <a:off x="4819650" y="42481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Move mechanically toward GLD, AGG, and BSV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51571F-7CFF-488E-9103-DBF739F0F18A}"/>
              </a:ext>
            </a:extLst>
          </p:cNvPr>
          <p:cNvSpPr>
            <a:spLocks noGrp="1"/>
          </p:cNvSpPr>
          <p:nvPr/>
        </p:nvSpPr>
        <p:spPr>
          <a:xfrm>
            <a:off x="8229600" y="3638550"/>
            <a:ext cx="3048000" cy="1295400"/>
          </a:xfrm>
          <a:prstGeom prst="roundRect">
            <a:avLst>
              <a:gd name="adj" fmla="val 5882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6C0ED2-0416-4891-990E-82B6C5E6E3CB}"/>
              </a:ext>
            </a:extLst>
          </p:cNvPr>
          <p:cNvSpPr>
            <a:spLocks noGrp="1"/>
          </p:cNvSpPr>
          <p:nvPr/>
        </p:nvSpPr>
        <p:spPr>
          <a:xfrm>
            <a:off x="8477250" y="38671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D6A642"/>
                </a:solidFill>
              </a:defRPr>
            </a:pPr>
            <a:r>
              <a:rPr sz="1650" b="1" i="0">
                <a:solidFill>
                  <a:srgbClr val="D6A642"/>
                </a:solidFill>
              </a:rPr>
              <a:t>Turnover rule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61406C-0182-4A1E-8108-D0351BDFCEB1}"/>
              </a:ext>
            </a:extLst>
          </p:cNvPr>
          <p:cNvSpPr>
            <a:spLocks noGrp="1"/>
          </p:cNvSpPr>
          <p:nvPr/>
        </p:nvSpPr>
        <p:spPr>
          <a:xfrm>
            <a:off x="8477250" y="42100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If total change exceeds 25pp, the move is scaled toward the model target.</a:t>
            </a:r>
          </a:p>
        </p:txBody>
      </p:sp>
    </p:spTree>
    <p:extLst>
      <p:ext uri="{BB962C8B-B14F-4D97-AF65-F5344CB8AC3E}">
        <p14:creationId xmlns:p14="http://schemas.microsoft.com/office/powerpoint/2010/main" val="1785483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698DD1E-621B-40DC-8A5A-72A7BBA93FF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C. BACKTESTING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078039-6094-4D82-B4F1-AF15029639A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Backtest: return-seeking, not pure equity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575C3-409F-43F7-9A76-0664765E7CF2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D6F87A-33F8-438A-83D4-16DB97D399AA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822216-D479-41F0-B70E-64F1BEA8BFBC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4457700" cy="3619500"/>
          </a:xfrm>
          <a:prstGeom prst="roundRect">
            <a:avLst>
              <a:gd name="adj" fmla="val 2105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009501-354D-4360-8A68-C2583E80B9B0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D6A642"/>
                </a:solidFill>
              </a:defRPr>
            </a:pPr>
            <a:r>
              <a:rPr sz="1800" b="1" i="0">
                <a:solidFill>
                  <a:srgbClr val="D6A642"/>
                </a:solidFill>
              </a:rPr>
              <a:t>2012–2026 backtest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546202-4E5D-4956-A9E2-32EAD8D4F66D}"/>
              </a:ext>
            </a:extLst>
          </p:cNvPr>
          <p:cNvSpPr>
            <a:spLocks noGrp="1"/>
          </p:cNvSpPr>
          <p:nvPr/>
        </p:nvSpPr>
        <p:spPr>
          <a:xfrm>
            <a:off x="952500" y="24955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Portfolio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5CF75-897A-487C-B2B3-EDE7EB110809}"/>
              </a:ext>
            </a:extLst>
          </p:cNvPr>
          <p:cNvSpPr>
            <a:spLocks noGrp="1"/>
          </p:cNvSpPr>
          <p:nvPr/>
        </p:nvSpPr>
        <p:spPr>
          <a:xfrm>
            <a:off x="2190750" y="24955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Ann. Ret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C6FD9-D062-4A3E-8122-74EF72FF5B6E}"/>
              </a:ext>
            </a:extLst>
          </p:cNvPr>
          <p:cNvSpPr>
            <a:spLocks noGrp="1"/>
          </p:cNvSpPr>
          <p:nvPr/>
        </p:nvSpPr>
        <p:spPr>
          <a:xfrm>
            <a:off x="3143250" y="24955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Vol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64CDA-DC6A-4A0E-A7A8-6C963E8C3FC4}"/>
              </a:ext>
            </a:extLst>
          </p:cNvPr>
          <p:cNvSpPr>
            <a:spLocks noGrp="1"/>
          </p:cNvSpPr>
          <p:nvPr/>
        </p:nvSpPr>
        <p:spPr>
          <a:xfrm>
            <a:off x="3947778" y="24955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 i="0">
                <a:solidFill>
                  <a:srgbClr val="A9B3BD"/>
                </a:solidFill>
              </a:defRPr>
            </a:pPr>
            <a:r>
              <a:rPr sz="1125" b="1" i="0" dirty="0">
                <a:solidFill>
                  <a:srgbClr val="A9B3BD"/>
                </a:solidFill>
              </a:rPr>
              <a:t>Sharpe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BC13F1-A09B-4EBB-9639-512D1ED3B60B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D6A642"/>
                </a:solidFill>
              </a:defRPr>
            </a:pPr>
            <a:r>
              <a:rPr sz="1350" b="1" i="0">
                <a:solidFill>
                  <a:srgbClr val="D6A642"/>
                </a:solidFill>
              </a:rPr>
              <a:t>Strategy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7EB36-63F1-4984-80BB-04AADF52EC22}"/>
              </a:ext>
            </a:extLst>
          </p:cNvPr>
          <p:cNvSpPr>
            <a:spLocks noGrp="1"/>
          </p:cNvSpPr>
          <p:nvPr/>
        </p:nvSpPr>
        <p:spPr>
          <a:xfrm>
            <a:off x="2190750" y="28956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9.65%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BE4952-5986-410D-9D06-DFF776A1A2D3}"/>
              </a:ext>
            </a:extLst>
          </p:cNvPr>
          <p:cNvSpPr>
            <a:spLocks noGrp="1"/>
          </p:cNvSpPr>
          <p:nvPr/>
        </p:nvSpPr>
        <p:spPr>
          <a:xfrm>
            <a:off x="3207042" y="28956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11.36%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34A9BB-E599-4CDD-9D02-E3F18EE89CE4}"/>
              </a:ext>
            </a:extLst>
          </p:cNvPr>
          <p:cNvSpPr>
            <a:spLocks noGrp="1"/>
          </p:cNvSpPr>
          <p:nvPr/>
        </p:nvSpPr>
        <p:spPr>
          <a:xfrm>
            <a:off x="3905250" y="28956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0.85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6BC086-A2DC-43B5-ACC1-4A49CDA0EFB9}"/>
              </a:ext>
            </a:extLst>
          </p:cNvPr>
          <p:cNvSpPr>
            <a:spLocks noGrp="1"/>
          </p:cNvSpPr>
          <p:nvPr/>
        </p:nvSpPr>
        <p:spPr>
          <a:xfrm>
            <a:off x="952500" y="34861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Equal weight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04047D-5907-445E-9D80-3CCD8B904A85}"/>
              </a:ext>
            </a:extLst>
          </p:cNvPr>
          <p:cNvSpPr>
            <a:spLocks noGrp="1"/>
          </p:cNvSpPr>
          <p:nvPr/>
        </p:nvSpPr>
        <p:spPr>
          <a:xfrm>
            <a:off x="2190750" y="34861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5.88%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A9E710-F746-42D4-9C7C-2721AC7B9D28}"/>
              </a:ext>
            </a:extLst>
          </p:cNvPr>
          <p:cNvSpPr>
            <a:spLocks noGrp="1"/>
          </p:cNvSpPr>
          <p:nvPr/>
        </p:nvSpPr>
        <p:spPr>
          <a:xfrm>
            <a:off x="3292103" y="34861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6.77%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0768AD-6F0D-43F7-9C0A-7DF39C3C8709}"/>
              </a:ext>
            </a:extLst>
          </p:cNvPr>
          <p:cNvSpPr>
            <a:spLocks noGrp="1"/>
          </p:cNvSpPr>
          <p:nvPr/>
        </p:nvSpPr>
        <p:spPr>
          <a:xfrm>
            <a:off x="3905250" y="34861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0.87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D8E0D7-6873-4887-BF1B-1E2589DCD3B3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ACWI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328B67-80DF-47C6-87E9-EB3ECA560DEF}"/>
              </a:ext>
            </a:extLst>
          </p:cNvPr>
          <p:cNvSpPr>
            <a:spLocks noGrp="1"/>
          </p:cNvSpPr>
          <p:nvPr/>
        </p:nvSpPr>
        <p:spPr>
          <a:xfrm>
            <a:off x="2190750" y="4076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11.61%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5FD2A2-D6C9-4211-A3C8-3C1A2BE8F563}"/>
              </a:ext>
            </a:extLst>
          </p:cNvPr>
          <p:cNvSpPr>
            <a:spLocks noGrp="1"/>
          </p:cNvSpPr>
          <p:nvPr/>
        </p:nvSpPr>
        <p:spPr>
          <a:xfrm>
            <a:off x="3143250" y="4076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 dirty="0">
                <a:solidFill>
                  <a:srgbClr val="F4EFE7"/>
                </a:solidFill>
              </a:rPr>
              <a:t>16.20%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61E615-34A9-4B67-9CA6-5D4E1D60480D}"/>
              </a:ext>
            </a:extLst>
          </p:cNvPr>
          <p:cNvSpPr>
            <a:spLocks noGrp="1"/>
          </p:cNvSpPr>
          <p:nvPr/>
        </p:nvSpPr>
        <p:spPr>
          <a:xfrm>
            <a:off x="3905250" y="407670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 i="0">
                <a:solidFill>
                  <a:srgbClr val="F4EFE7"/>
                </a:solidFill>
              </a:defRPr>
            </a:pPr>
            <a:r>
              <a:rPr sz="1350" b="0" i="0">
                <a:solidFill>
                  <a:srgbClr val="F4EFE7"/>
                </a:solidFill>
              </a:rPr>
              <a:t>0.72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2125" y="1704975"/>
            <a:ext cx="5905500" cy="3543300"/>
          </a:xfrm>
          <a:prstGeom prst="roundRect">
            <a:avLst>
              <a:gd name="adj" fmla="val 2051"/>
            </a:avLst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4E91706-2892-4A12-B0AE-8689AC0A038B}"/>
              </a:ext>
            </a:extLst>
          </p:cNvPr>
          <p:cNvSpPr>
            <a:spLocks noGrp="1"/>
          </p:cNvSpPr>
          <p:nvPr/>
        </p:nvSpPr>
        <p:spPr>
          <a:xfrm>
            <a:off x="403599" y="5791200"/>
            <a:ext cx="1168916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 i="0">
                <a:solidFill>
                  <a:srgbClr val="A9B3BD"/>
                </a:solidFill>
              </a:defRPr>
            </a:pPr>
            <a:r>
              <a:rPr sz="1500" b="0" i="0" dirty="0">
                <a:solidFill>
                  <a:srgbClr val="A9B3BD"/>
                </a:solidFill>
              </a:rPr>
              <a:t>Interpretation: the strategy gives up some upside versus ACWI-only to reduce drawdown, while materially outperforming equal weight in return.</a:t>
            </a:r>
          </a:p>
        </p:txBody>
      </p:sp>
    </p:spTree>
    <p:extLst>
      <p:ext uri="{BB962C8B-B14F-4D97-AF65-F5344CB8AC3E}">
        <p14:creationId xmlns:p14="http://schemas.microsoft.com/office/powerpoint/2010/main" val="533251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C408E01-5D38-49FA-97D1-F9724E45E15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C. ROBUSTNESS &amp; 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04A302-4A4D-49A3-80EE-79750EE12CA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Validation: contest-horizon windows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C65B7A-2D96-4292-85C8-E51F113AE64F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2850F5-CAA2-4D59-ACA8-63694BEF5C63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E26D52-2A95-4291-83C4-A24AD910B540}"/>
              </a:ext>
            </a:extLst>
          </p:cNvPr>
          <p:cNvSpPr>
            <a:spLocks noGrp="1"/>
          </p:cNvSpPr>
          <p:nvPr/>
        </p:nvSpPr>
        <p:spPr>
          <a:xfrm>
            <a:off x="819150" y="156210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A9B3BD"/>
                </a:solidFill>
              </a:defRPr>
            </a:pPr>
            <a:r>
              <a:rPr sz="1650" b="0" i="0">
                <a:solidFill>
                  <a:srgbClr val="A9B3BD"/>
                </a:solidFill>
              </a:rPr>
              <a:t>20-trading-day windows approximate the June live period.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DECFB6-DD59-489E-A276-37489925BB7F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10439400" cy="2266950"/>
          </a:xfrm>
          <a:prstGeom prst="roundRect">
            <a:avLst>
              <a:gd name="adj" fmla="val 3361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4F5556-C2C9-46D0-BBA3-E1D0D5601F89}"/>
              </a:ext>
            </a:extLst>
          </p:cNvPr>
          <p:cNvSpPr>
            <a:spLocks noGrp="1"/>
          </p:cNvSpPr>
          <p:nvPr/>
        </p:nvSpPr>
        <p:spPr>
          <a:xfrm>
            <a:off x="1238250" y="2476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Portfolio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23C00D-3A36-4CB4-978B-780E8928F38B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Mean 20D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310111-DF3E-41A0-918B-AE1C26EFB4EC}"/>
              </a:ext>
            </a:extLst>
          </p:cNvPr>
          <p:cNvSpPr>
            <a:spLocks noGrp="1"/>
          </p:cNvSpPr>
          <p:nvPr/>
        </p:nvSpPr>
        <p:spPr>
          <a:xfrm>
            <a:off x="5238750" y="2476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Median 20D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7ECC8B-B3D9-4EF6-B40B-FBD8B08F7D91}"/>
              </a:ext>
            </a:extLst>
          </p:cNvPr>
          <p:cNvSpPr>
            <a:spLocks noGrp="1"/>
          </p:cNvSpPr>
          <p:nvPr/>
        </p:nvSpPr>
        <p:spPr>
          <a:xfrm>
            <a:off x="7048500" y="2476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5% tail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2F369D-CACF-424D-B32F-917BD84B380E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Positive 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9042F7-09F2-4D2C-82A5-943C482F3043}"/>
              </a:ext>
            </a:extLst>
          </p:cNvPr>
          <p:cNvSpPr>
            <a:spLocks noGrp="1"/>
          </p:cNvSpPr>
          <p:nvPr/>
        </p:nvSpPr>
        <p:spPr>
          <a:xfrm>
            <a:off x="1238250" y="29908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 i="0">
                <a:solidFill>
                  <a:srgbClr val="D6A642"/>
                </a:solidFill>
              </a:defRPr>
            </a:pPr>
            <a:r>
              <a:rPr sz="1500" b="1" i="0">
                <a:solidFill>
                  <a:srgbClr val="D6A642"/>
                </a:solidFill>
              </a:rPr>
              <a:t>Strategy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F0820D-917E-4CE0-BC1F-D9134650FE68}"/>
              </a:ext>
            </a:extLst>
          </p:cNvPr>
          <p:cNvSpPr>
            <a:spLocks noGrp="1"/>
          </p:cNvSpPr>
          <p:nvPr/>
        </p:nvSpPr>
        <p:spPr>
          <a:xfrm>
            <a:off x="3429000" y="2990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1" i="0">
                <a:solidFill>
                  <a:srgbClr val="D6A642"/>
                </a:solidFill>
              </a:defRPr>
            </a:pPr>
            <a:r>
              <a:rPr sz="1500" b="1" i="0">
                <a:solidFill>
                  <a:srgbClr val="D6A642"/>
                </a:solidFill>
              </a:rPr>
              <a:t>0.87%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D42FA0-7714-4936-8C1F-1E2FA8A23275}"/>
              </a:ext>
            </a:extLst>
          </p:cNvPr>
          <p:cNvSpPr>
            <a:spLocks noGrp="1"/>
          </p:cNvSpPr>
          <p:nvPr/>
        </p:nvSpPr>
        <p:spPr>
          <a:xfrm>
            <a:off x="5238750" y="2990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1.09%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238AA6-18EC-41B6-9628-56FF7D2FE6B7}"/>
              </a:ext>
            </a:extLst>
          </p:cNvPr>
          <p:cNvSpPr>
            <a:spLocks noGrp="1"/>
          </p:cNvSpPr>
          <p:nvPr/>
        </p:nvSpPr>
        <p:spPr>
          <a:xfrm>
            <a:off x="7048500" y="29908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-4.58%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091E58-9307-4F8B-AEB9-144616D13A98}"/>
              </a:ext>
            </a:extLst>
          </p:cNvPr>
          <p:cNvSpPr>
            <a:spLocks noGrp="1"/>
          </p:cNvSpPr>
          <p:nvPr/>
        </p:nvSpPr>
        <p:spPr>
          <a:xfrm>
            <a:off x="8858250" y="29908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66.1%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8BD084-53F2-4A95-8320-787BE7A18E16}"/>
              </a:ext>
            </a:extLst>
          </p:cNvPr>
          <p:cNvSpPr>
            <a:spLocks noGrp="1"/>
          </p:cNvSpPr>
          <p:nvPr/>
        </p:nvSpPr>
        <p:spPr>
          <a:xfrm>
            <a:off x="1238250" y="3486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Equal weight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262420-07DE-4B1F-87B0-FF2CEAEBF450}"/>
              </a:ext>
            </a:extLst>
          </p:cNvPr>
          <p:cNvSpPr>
            <a:spLocks noGrp="1"/>
          </p:cNvSpPr>
          <p:nvPr/>
        </p:nvSpPr>
        <p:spPr>
          <a:xfrm>
            <a:off x="3429000" y="3486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0.55%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5B53A0-4231-4CB6-94E3-F34B22807DE2}"/>
              </a:ext>
            </a:extLst>
          </p:cNvPr>
          <p:cNvSpPr>
            <a:spLocks noGrp="1"/>
          </p:cNvSpPr>
          <p:nvPr/>
        </p:nvSpPr>
        <p:spPr>
          <a:xfrm>
            <a:off x="5238750" y="3486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0.50%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BEF4FA-D9BD-4750-AC33-B5B6A2722758}"/>
              </a:ext>
            </a:extLst>
          </p:cNvPr>
          <p:cNvSpPr>
            <a:spLocks noGrp="1"/>
          </p:cNvSpPr>
          <p:nvPr/>
        </p:nvSpPr>
        <p:spPr>
          <a:xfrm>
            <a:off x="7048500" y="34861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-2.27%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80A91D-827F-4089-8B7F-3A198435C515}"/>
              </a:ext>
            </a:extLst>
          </p:cNvPr>
          <p:cNvSpPr>
            <a:spLocks noGrp="1"/>
          </p:cNvSpPr>
          <p:nvPr/>
        </p:nvSpPr>
        <p:spPr>
          <a:xfrm>
            <a:off x="8858250" y="3486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63.2%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A195F0-28E3-47AA-9609-35BA46514BAC}"/>
              </a:ext>
            </a:extLst>
          </p:cNvPr>
          <p:cNvSpPr>
            <a:spLocks noGrp="1"/>
          </p:cNvSpPr>
          <p:nvPr/>
        </p:nvSpPr>
        <p:spPr>
          <a:xfrm>
            <a:off x="1238250" y="3981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ACWI only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9DCD4A-4DA8-4708-A8EE-2220752D7A7B}"/>
              </a:ext>
            </a:extLst>
          </p:cNvPr>
          <p:cNvSpPr>
            <a:spLocks noGrp="1"/>
          </p:cNvSpPr>
          <p:nvPr/>
        </p:nvSpPr>
        <p:spPr>
          <a:xfrm>
            <a:off x="3429000" y="39814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1.00%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496146-EFA6-40F1-9EBD-7CEB5259F269}"/>
              </a:ext>
            </a:extLst>
          </p:cNvPr>
          <p:cNvSpPr>
            <a:spLocks noGrp="1"/>
          </p:cNvSpPr>
          <p:nvPr/>
        </p:nvSpPr>
        <p:spPr>
          <a:xfrm>
            <a:off x="5238750" y="39814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1.47%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BD1245-B693-487D-91BA-43AE8123310D}"/>
              </a:ext>
            </a:extLst>
          </p:cNvPr>
          <p:cNvSpPr>
            <a:spLocks noGrp="1"/>
          </p:cNvSpPr>
          <p:nvPr/>
        </p:nvSpPr>
        <p:spPr>
          <a:xfrm>
            <a:off x="7048500" y="398145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D35F5F"/>
                </a:solidFill>
              </a:defRPr>
            </a:pPr>
            <a:r>
              <a:rPr sz="1500" b="0" i="0">
                <a:solidFill>
                  <a:srgbClr val="D35F5F"/>
                </a:solidFill>
              </a:rPr>
              <a:t>-6.15%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CFFBAF-DADD-44BC-AA55-4FF5F419BC35}"/>
              </a:ext>
            </a:extLst>
          </p:cNvPr>
          <p:cNvSpPr>
            <a:spLocks noGrp="1"/>
          </p:cNvSpPr>
          <p:nvPr/>
        </p:nvSpPr>
        <p:spPr>
          <a:xfrm>
            <a:off x="8858250" y="3981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500" b="0" i="0">
                <a:solidFill>
                  <a:srgbClr val="F4EFE7"/>
                </a:solidFill>
              </a:defRPr>
            </a:pPr>
            <a:r>
              <a:rPr sz="1500" b="0" i="0">
                <a:solidFill>
                  <a:srgbClr val="F4EFE7"/>
                </a:solidFill>
              </a:rPr>
              <a:t>66.7%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0CC647-88DC-4952-B8B6-3D9D2577FE8C}"/>
              </a:ext>
            </a:extLst>
          </p:cNvPr>
          <p:cNvSpPr>
            <a:spLocks noGrp="1"/>
          </p:cNvSpPr>
          <p:nvPr/>
        </p:nvSpPr>
        <p:spPr>
          <a:xfrm>
            <a:off x="644158" y="50958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D6A642"/>
                </a:solidFill>
              </a:defRPr>
            </a:pPr>
            <a:r>
              <a:rPr sz="1650" b="1" i="0" dirty="0">
                <a:solidFill>
                  <a:srgbClr val="D6A642"/>
                </a:solidFill>
              </a:rPr>
              <a:t>Key trade-off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AE3594-9DEA-4860-A4EF-2CE4B5BB2BE6}"/>
              </a:ext>
            </a:extLst>
          </p:cNvPr>
          <p:cNvSpPr>
            <a:spLocks noGrp="1"/>
          </p:cNvSpPr>
          <p:nvPr/>
        </p:nvSpPr>
        <p:spPr>
          <a:xfrm>
            <a:off x="1933802" y="5095875"/>
            <a:ext cx="10265292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F4EFE7"/>
                </a:solidFill>
              </a:defRPr>
            </a:pPr>
            <a:r>
              <a:rPr sz="1500" b="0" i="0" dirty="0">
                <a:solidFill>
                  <a:srgbClr val="F4EFE7"/>
                </a:solidFill>
              </a:rPr>
              <a:t>ACWI-only has the highest historical 20D mean, but the strategy has a materially better 5% tail and a defendable allocation rule.</a:t>
            </a:r>
          </a:p>
        </p:txBody>
      </p:sp>
    </p:spTree>
    <p:extLst>
      <p:ext uri="{BB962C8B-B14F-4D97-AF65-F5344CB8AC3E}">
        <p14:creationId xmlns:p14="http://schemas.microsoft.com/office/powerpoint/2010/main" val="184176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4534C30-7817-4F74-B33E-DCE22202892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D6A642"/>
                </a:solidFill>
              </a:defRPr>
            </a:pPr>
            <a:r>
              <a:rPr sz="1050" b="1" i="0">
                <a:solidFill>
                  <a:srgbClr val="D6A642"/>
                </a:solidFill>
              </a:rPr>
              <a:t>D. LIVE 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58BB26-40C6-4D67-B0E2-21A52FD8B4CF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 i="0">
                <a:solidFill>
                  <a:srgbClr val="F4EFE7"/>
                </a:solidFill>
              </a:defRPr>
            </a:pPr>
            <a:r>
              <a:rPr sz="2850" b="1" i="0">
                <a:solidFill>
                  <a:srgbClr val="F4EFE7"/>
                </a:solidFill>
              </a:rPr>
              <a:t>Live implementation: submissions and June readout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FB89E-1BD7-4599-A57A-F219C9FBCB43}"/>
              </a:ext>
            </a:extLst>
          </p:cNvPr>
          <p:cNvSpPr>
            <a:spLocks noGrp="1"/>
          </p:cNvSpPr>
          <p:nvPr/>
        </p:nvSpPr>
        <p:spPr>
          <a:xfrm>
            <a:off x="609600" y="1295400"/>
            <a:ext cx="1524000" cy="38100"/>
          </a:xfrm>
          <a:prstGeom prst="rect">
            <a:avLst/>
          </a:prstGeom>
          <a:solidFill>
            <a:srgbClr val="D6A642"/>
          </a:solidFill>
          <a:ln w="0">
            <a:solidFill>
              <a:srgbClr val="D6A642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32F42B-996E-4A15-8516-575C97D040BC}"/>
              </a:ext>
            </a:extLst>
          </p:cNvPr>
          <p:cNvSpPr>
            <a:spLocks noGrp="1"/>
          </p:cNvSpPr>
          <p:nvPr/>
        </p:nvSpPr>
        <p:spPr>
          <a:xfrm>
            <a:off x="11106150" y="64198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92C175-84E1-42E3-9C05-2C6AAFA02D8A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2926A-8EE0-4D11-9C24-7C88DC6CC1EE}"/>
              </a:ext>
            </a:extLst>
          </p:cNvPr>
          <p:cNvSpPr>
            <a:spLocks noGrp="1"/>
          </p:cNvSpPr>
          <p:nvPr/>
        </p:nvSpPr>
        <p:spPr>
          <a:xfrm>
            <a:off x="1028700" y="18288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May 29 / Jun 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7404CF-F2AE-4E71-B4CD-390A6ACFF919}"/>
              </a:ext>
            </a:extLst>
          </p:cNvPr>
          <p:cNvSpPr>
            <a:spLocks noGrp="1"/>
          </p:cNvSpPr>
          <p:nvPr/>
        </p:nvSpPr>
        <p:spPr>
          <a:xfrm>
            <a:off x="1009650" y="220980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F4EFE7"/>
                </a:solidFill>
              </a:defRPr>
            </a:pPr>
            <a:r>
              <a:rPr sz="1425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F00964-78F0-4B48-B869-879B09D1C943}"/>
              </a:ext>
            </a:extLst>
          </p:cNvPr>
          <p:cNvSpPr>
            <a:spLocks noGrp="1"/>
          </p:cNvSpPr>
          <p:nvPr/>
        </p:nvSpPr>
        <p:spPr>
          <a:xfrm>
            <a:off x="2971800" y="16192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8E0EC8-5401-49CE-B52B-C165ABB8D001}"/>
              </a:ext>
            </a:extLst>
          </p:cNvPr>
          <p:cNvSpPr>
            <a:spLocks noGrp="1"/>
          </p:cNvSpPr>
          <p:nvPr/>
        </p:nvSpPr>
        <p:spPr>
          <a:xfrm>
            <a:off x="3124200" y="18288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Jun 05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D5AE08-F70B-4079-A24E-02D4A971D7DB}"/>
              </a:ext>
            </a:extLst>
          </p:cNvPr>
          <p:cNvSpPr>
            <a:spLocks noGrp="1"/>
          </p:cNvSpPr>
          <p:nvPr/>
        </p:nvSpPr>
        <p:spPr>
          <a:xfrm>
            <a:off x="3105150" y="220980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F4EFE7"/>
                </a:solidFill>
              </a:defRPr>
            </a:pPr>
            <a:r>
              <a:rPr sz="1425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C9A0DD-D675-4D5D-AB7A-4A78C104A4C7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4F8ABE-C0BF-4990-B05F-E6646866E2A6}"/>
              </a:ext>
            </a:extLst>
          </p:cNvPr>
          <p:cNvSpPr>
            <a:spLocks noGrp="1"/>
          </p:cNvSpPr>
          <p:nvPr/>
        </p:nvSpPr>
        <p:spPr>
          <a:xfrm>
            <a:off x="5219700" y="18288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Jun 12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014635-ECA9-461F-BD2C-B6F9451F449F}"/>
              </a:ext>
            </a:extLst>
          </p:cNvPr>
          <p:cNvSpPr>
            <a:spLocks noGrp="1"/>
          </p:cNvSpPr>
          <p:nvPr/>
        </p:nvSpPr>
        <p:spPr>
          <a:xfrm>
            <a:off x="5200650" y="220980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F4EFE7"/>
                </a:solidFill>
              </a:defRPr>
            </a:pPr>
            <a:r>
              <a:rPr sz="1425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EEB654-5FE7-40B2-80CF-0281CAB944C6}"/>
              </a:ext>
            </a:extLst>
          </p:cNvPr>
          <p:cNvSpPr>
            <a:spLocks noGrp="1"/>
          </p:cNvSpPr>
          <p:nvPr/>
        </p:nvSpPr>
        <p:spPr>
          <a:xfrm>
            <a:off x="7162800" y="16192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BF2E21-C4B5-4284-996E-EAFA018D9012}"/>
              </a:ext>
            </a:extLst>
          </p:cNvPr>
          <p:cNvSpPr>
            <a:spLocks noGrp="1"/>
          </p:cNvSpPr>
          <p:nvPr/>
        </p:nvSpPr>
        <p:spPr>
          <a:xfrm>
            <a:off x="7315200" y="18288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Jun 19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DB5D07-D78C-4992-8555-8D612F169B73}"/>
              </a:ext>
            </a:extLst>
          </p:cNvPr>
          <p:cNvSpPr>
            <a:spLocks noGrp="1"/>
          </p:cNvSpPr>
          <p:nvPr/>
        </p:nvSpPr>
        <p:spPr>
          <a:xfrm>
            <a:off x="7296150" y="220980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F4EFE7"/>
                </a:solidFill>
              </a:defRPr>
            </a:pPr>
            <a:r>
              <a:rPr sz="1425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972C71D-7663-4E9E-947B-8B7140875A7E}"/>
              </a:ext>
            </a:extLst>
          </p:cNvPr>
          <p:cNvSpPr>
            <a:spLocks noGrp="1"/>
          </p:cNvSpPr>
          <p:nvPr/>
        </p:nvSpPr>
        <p:spPr>
          <a:xfrm>
            <a:off x="9258300" y="16192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101B26"/>
          </a:solidFill>
          <a:ln w="9525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A4D6C9-4931-4C29-887D-B3DE15B1DE4D}"/>
              </a:ext>
            </a:extLst>
          </p:cNvPr>
          <p:cNvSpPr>
            <a:spLocks noGrp="1"/>
          </p:cNvSpPr>
          <p:nvPr/>
        </p:nvSpPr>
        <p:spPr>
          <a:xfrm>
            <a:off x="9410700" y="1828800"/>
            <a:ext cx="1314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A9B3BD"/>
                </a:solidFill>
              </a:defRPr>
            </a:pPr>
            <a:r>
              <a:rPr sz="1200" b="1" i="0">
                <a:solidFill>
                  <a:srgbClr val="A9B3BD"/>
                </a:solidFill>
              </a:rPr>
              <a:t>Jun 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E851D0-A17E-47FB-B696-BA72524CDA1C}"/>
              </a:ext>
            </a:extLst>
          </p:cNvPr>
          <p:cNvSpPr>
            <a:spLocks noGrp="1"/>
          </p:cNvSpPr>
          <p:nvPr/>
        </p:nvSpPr>
        <p:spPr>
          <a:xfrm>
            <a:off x="9391650" y="2209800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D6A642"/>
                </a:solidFill>
              </a:defRPr>
            </a:pPr>
            <a:r>
              <a:rPr sz="1425" b="1" i="0">
                <a:solidFill>
                  <a:srgbClr val="D6A642"/>
                </a:solidFill>
              </a:rPr>
              <a:t>90 / 0 / 10 / 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0EEE16-5333-41CC-9168-E0D98DDFCDA3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2343150" cy="1123950"/>
          </a:xfrm>
          <a:prstGeom prst="roundRect">
            <a:avLst>
              <a:gd name="adj" fmla="val 6780"/>
            </a:avLst>
          </a:prstGeom>
          <a:solidFill>
            <a:srgbClr val="101B26"/>
          </a:solidFill>
          <a:ln w="14288">
            <a:solidFill>
              <a:srgbClr val="D35F5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18291B-E2D2-4716-8837-E352DB2B61F5}"/>
              </a:ext>
            </a:extLst>
          </p:cNvPr>
          <p:cNvSpPr>
            <a:spLocks noGrp="1"/>
          </p:cNvSpPr>
          <p:nvPr/>
        </p:nvSpPr>
        <p:spPr>
          <a:xfrm>
            <a:off x="1047750" y="32004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Estimated strategy return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1F29EF-29BF-4340-83AC-65C122B46CB1}"/>
              </a:ext>
            </a:extLst>
          </p:cNvPr>
          <p:cNvSpPr>
            <a:spLocks noGrp="1"/>
          </p:cNvSpPr>
          <p:nvPr/>
        </p:nvSpPr>
        <p:spPr>
          <a:xfrm>
            <a:off x="1047750" y="345757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F4EFE7"/>
                </a:solidFill>
              </a:defRPr>
            </a:pPr>
            <a:r>
              <a:rPr sz="2100" b="1" i="0">
                <a:solidFill>
                  <a:srgbClr val="F4EFE7"/>
                </a:solidFill>
              </a:rPr>
              <a:t>-2.17%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C2768B-2402-45FC-B86E-C6F805545361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A9B3BD"/>
                </a:solidFill>
              </a:defRPr>
            </a:pPr>
            <a:r>
              <a:rPr sz="975" b="0" i="0" dirty="0">
                <a:solidFill>
                  <a:srgbClr val="A9B3BD"/>
                </a:solidFill>
              </a:rPr>
              <a:t>Jun 01 to Jun 29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7EEF202-D3B4-4173-ABD7-7B6153E10F08}"/>
              </a:ext>
            </a:extLst>
          </p:cNvPr>
          <p:cNvSpPr>
            <a:spLocks noGrp="1"/>
          </p:cNvSpPr>
          <p:nvPr/>
        </p:nvSpPr>
        <p:spPr>
          <a:xfrm>
            <a:off x="3581400" y="302895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101B26"/>
          </a:solidFill>
          <a:ln w="14288">
            <a:solidFill>
              <a:srgbClr val="D6A6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777DCD-0C0C-41F7-863D-4AAE81BBFA6A}"/>
              </a:ext>
            </a:extLst>
          </p:cNvPr>
          <p:cNvSpPr>
            <a:spLocks noGrp="1"/>
          </p:cNvSpPr>
          <p:nvPr/>
        </p:nvSpPr>
        <p:spPr>
          <a:xfrm>
            <a:off x="3752850" y="32004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ACWI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5F1289-5F42-4493-AD85-3031E4BB9F74}"/>
              </a:ext>
            </a:extLst>
          </p:cNvPr>
          <p:cNvSpPr>
            <a:spLocks noGrp="1"/>
          </p:cNvSpPr>
          <p:nvPr/>
        </p:nvSpPr>
        <p:spPr>
          <a:xfrm>
            <a:off x="3752850" y="3457575"/>
            <a:ext cx="1657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F4EFE7"/>
                </a:solidFill>
              </a:defRPr>
            </a:pPr>
            <a:r>
              <a:rPr sz="2100" b="1" i="0">
                <a:solidFill>
                  <a:srgbClr val="F4EFE7"/>
                </a:solidFill>
              </a:rPr>
              <a:t>-1.08%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85943EA-E015-4E5F-888E-9CEBC91C3725}"/>
              </a:ext>
            </a:extLst>
          </p:cNvPr>
          <p:cNvSpPr>
            <a:spLocks noGrp="1"/>
          </p:cNvSpPr>
          <p:nvPr/>
        </p:nvSpPr>
        <p:spPr>
          <a:xfrm>
            <a:off x="5943600" y="302895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101B26"/>
          </a:solidFill>
          <a:ln w="14288">
            <a:solidFill>
              <a:srgbClr val="D35F5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8A9D23-D8DA-4941-BC29-773A214931B3}"/>
              </a:ext>
            </a:extLst>
          </p:cNvPr>
          <p:cNvSpPr>
            <a:spLocks noGrp="1"/>
          </p:cNvSpPr>
          <p:nvPr/>
        </p:nvSpPr>
        <p:spPr>
          <a:xfrm>
            <a:off x="6115050" y="32004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GLD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E968EB-3AA3-48CF-9C16-EBA67DFBCE1D}"/>
              </a:ext>
            </a:extLst>
          </p:cNvPr>
          <p:cNvSpPr>
            <a:spLocks noGrp="1"/>
          </p:cNvSpPr>
          <p:nvPr/>
        </p:nvSpPr>
        <p:spPr>
          <a:xfrm>
            <a:off x="6115050" y="3457575"/>
            <a:ext cx="1657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F4EFE7"/>
                </a:solidFill>
              </a:defRPr>
            </a:pPr>
            <a:r>
              <a:rPr sz="2100" b="1" i="0">
                <a:solidFill>
                  <a:srgbClr val="F4EFE7"/>
                </a:solidFill>
              </a:rPr>
              <a:t>-11.64%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D8C139F-A501-4C6B-B240-401BE2CADBE9}"/>
              </a:ext>
            </a:extLst>
          </p:cNvPr>
          <p:cNvSpPr>
            <a:spLocks noGrp="1"/>
          </p:cNvSpPr>
          <p:nvPr/>
        </p:nvSpPr>
        <p:spPr>
          <a:xfrm>
            <a:off x="8305800" y="3028950"/>
            <a:ext cx="2857500" cy="1123950"/>
          </a:xfrm>
          <a:prstGeom prst="roundRect">
            <a:avLst>
              <a:gd name="adj" fmla="val 6780"/>
            </a:avLst>
          </a:prstGeom>
          <a:solidFill>
            <a:srgbClr val="101B26"/>
          </a:solidFill>
          <a:ln w="14288">
            <a:solidFill>
              <a:srgbClr val="49C6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3EC2D0-E5FF-45C0-B711-0353C0CF5D33}"/>
              </a:ext>
            </a:extLst>
          </p:cNvPr>
          <p:cNvSpPr>
            <a:spLocks noGrp="1"/>
          </p:cNvSpPr>
          <p:nvPr/>
        </p:nvSpPr>
        <p:spPr>
          <a:xfrm>
            <a:off x="8477250" y="3200400"/>
            <a:ext cx="2514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A9B3BD"/>
                </a:solidFill>
              </a:defRPr>
            </a:pPr>
            <a:r>
              <a:rPr sz="1125" b="1" i="0">
                <a:solidFill>
                  <a:srgbClr val="A9B3BD"/>
                </a:solidFill>
              </a:rPr>
              <a:t>Latest allocation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27F456-84D2-491D-AB85-F031C9679F09}"/>
              </a:ext>
            </a:extLst>
          </p:cNvPr>
          <p:cNvSpPr>
            <a:spLocks noGrp="1"/>
          </p:cNvSpPr>
          <p:nvPr/>
        </p:nvSpPr>
        <p:spPr>
          <a:xfrm>
            <a:off x="8477250" y="3457575"/>
            <a:ext cx="2514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F4EFE7"/>
                </a:solidFill>
              </a:defRPr>
            </a:pPr>
            <a:r>
              <a:rPr sz="2100" b="1" i="0">
                <a:solidFill>
                  <a:srgbClr val="F4EFE7"/>
                </a:solidFill>
              </a:rPr>
              <a:t>90 / 0 / 10 / 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B58060-39D8-4C8A-BEB2-791E0D3C0726}"/>
              </a:ext>
            </a:extLst>
          </p:cNvPr>
          <p:cNvSpPr>
            <a:spLocks noGrp="1"/>
          </p:cNvSpPr>
          <p:nvPr/>
        </p:nvSpPr>
        <p:spPr>
          <a:xfrm>
            <a:off x="8477250" y="3848100"/>
            <a:ext cx="251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A9B3BD"/>
                </a:solidFill>
              </a:defRPr>
            </a:pPr>
            <a:r>
              <a:rPr sz="975" b="0" i="0">
                <a:solidFill>
                  <a:srgbClr val="A9B3BD"/>
                </a:solidFill>
              </a:rPr>
              <a:t>ACWI / AGG / GLD / BSV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6EEBB1B-53C8-42A4-AFC4-8A85E7C6B989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4762500" cy="1219200"/>
          </a:xfrm>
          <a:prstGeom prst="roundRect">
            <a:avLst>
              <a:gd name="adj" fmla="val 7692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6B7C1B-4EA8-472B-B1C7-FBA78B43AA6D}"/>
              </a:ext>
            </a:extLst>
          </p:cNvPr>
          <p:cNvSpPr>
            <a:spLocks noGrp="1"/>
          </p:cNvSpPr>
          <p:nvPr/>
        </p:nvSpPr>
        <p:spPr>
          <a:xfrm>
            <a:off x="1181100" y="50101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70C17B"/>
                </a:solidFill>
              </a:defRPr>
            </a:pPr>
            <a:r>
              <a:rPr sz="1650" b="1" i="0">
                <a:solidFill>
                  <a:srgbClr val="70C17B"/>
                </a:solidFill>
              </a:rPr>
              <a:t>What worked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B3DF16-60B0-437A-8D70-E1F42C2D47C4}"/>
              </a:ext>
            </a:extLst>
          </p:cNvPr>
          <p:cNvSpPr>
            <a:spLocks noGrp="1"/>
          </p:cNvSpPr>
          <p:nvPr/>
        </p:nvSpPr>
        <p:spPr>
          <a:xfrm>
            <a:off x="1181100" y="53340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ACWI kept stronger medium-term momentum, trend, and volatility than GLD.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4073833-CAEB-47A3-8838-3743B8F30AA7}"/>
              </a:ext>
            </a:extLst>
          </p:cNvPr>
          <p:cNvSpPr>
            <a:spLocks noGrp="1"/>
          </p:cNvSpPr>
          <p:nvPr/>
        </p:nvSpPr>
        <p:spPr>
          <a:xfrm>
            <a:off x="6553200" y="4762500"/>
            <a:ext cx="4762500" cy="1219200"/>
          </a:xfrm>
          <a:prstGeom prst="roundRect">
            <a:avLst>
              <a:gd name="adj" fmla="val 7692"/>
            </a:avLst>
          </a:prstGeom>
          <a:solidFill>
            <a:srgbClr val="101B26"/>
          </a:solidFill>
          <a:ln w="9525">
            <a:solidFill>
              <a:srgbClr val="31425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32B92A-219F-4D51-8436-BCE5148EC05A}"/>
              </a:ext>
            </a:extLst>
          </p:cNvPr>
          <p:cNvSpPr>
            <a:spLocks noGrp="1"/>
          </p:cNvSpPr>
          <p:nvPr/>
        </p:nvSpPr>
        <p:spPr>
          <a:xfrm>
            <a:off x="6858000" y="50101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D35F5F"/>
                </a:solidFill>
              </a:defRPr>
            </a:pPr>
            <a:r>
              <a:rPr sz="1650" b="1" i="0">
                <a:solidFill>
                  <a:srgbClr val="D35F5F"/>
                </a:solidFill>
              </a:rPr>
              <a:t>What hurt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3BFAA8-7BEA-41C1-BCDE-FED3A7844CCF}"/>
              </a:ext>
            </a:extLst>
          </p:cNvPr>
          <p:cNvSpPr>
            <a:spLocks noGrp="1"/>
          </p:cNvSpPr>
          <p:nvPr/>
        </p:nvSpPr>
        <p:spPr>
          <a:xfrm>
            <a:off x="6858000" y="53340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F4EFE7"/>
                </a:solidFill>
              </a:defRPr>
            </a:pPr>
            <a:r>
              <a:rPr sz="1200" b="0" i="0">
                <a:solidFill>
                  <a:srgbClr val="F4EFE7"/>
                </a:solidFill>
              </a:rPr>
              <a:t>The 10% GLD sleeve reduced pure-equity upside during a weak gold tape.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D46D02-3DB8-4D4F-793D-269ADAFA43D8}"/>
              </a:ext>
            </a:extLst>
          </p:cNvPr>
          <p:cNvSpPr>
            <a:spLocks noGrp="1"/>
          </p:cNvSpPr>
          <p:nvPr/>
        </p:nvSpPr>
        <p:spPr>
          <a:xfrm>
            <a:off x="3752850" y="38481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A9B3BD"/>
                </a:solidFill>
              </a:defRPr>
            </a:pPr>
            <a:r>
              <a:rPr sz="975" b="0" i="0" dirty="0">
                <a:solidFill>
                  <a:srgbClr val="A9B3BD"/>
                </a:solidFill>
              </a:rPr>
              <a:t>Jun 01 to Jun 29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985081B-4330-6D60-E10A-7DC32A73E17B}"/>
              </a:ext>
            </a:extLst>
          </p:cNvPr>
          <p:cNvSpPr>
            <a:spLocks noGrp="1"/>
          </p:cNvSpPr>
          <p:nvPr/>
        </p:nvSpPr>
        <p:spPr>
          <a:xfrm>
            <a:off x="6134100" y="38481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A9B3BD"/>
                </a:solidFill>
              </a:defRPr>
            </a:pPr>
            <a:r>
              <a:rPr sz="975" b="0" i="0" dirty="0">
                <a:solidFill>
                  <a:srgbClr val="A9B3BD"/>
                </a:solidFill>
              </a:rPr>
              <a:t>Jun 01 to Jun 29</a:t>
            </a:r>
          </a:p>
        </p:txBody>
      </p:sp>
    </p:spTree>
    <p:extLst>
      <p:ext uri="{BB962C8B-B14F-4D97-AF65-F5344CB8AC3E}">
        <p14:creationId xmlns:p14="http://schemas.microsoft.com/office/powerpoint/2010/main" val="16231598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598</Words>
  <Application>Microsoft Office PowerPoint</Application>
  <DocSecurity>0</DocSecurity>
  <PresentationFormat>Widescreen</PresentationFormat>
  <Paragraphs>176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Jerôme Lee</cp:lastModifiedBy>
  <cp:revision>5</cp:revision>
  <dcterms:created xsi:type="dcterms:W3CDTF">2026-06-29T14:45:09Z</dcterms:created>
  <dcterms:modified xsi:type="dcterms:W3CDTF">2026-06-29T21:14:53Z</dcterms:modified>
</cp:coreProperties>
</file>